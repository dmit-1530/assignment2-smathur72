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5"/>
  </p:sldMasterIdLst>
  <p:notesMasterIdLst>
    <p:notesMasterId r:id="rId29"/>
  </p:notesMasterIdLst>
  <p:handoutMasterIdLst>
    <p:handoutMasterId r:id="rId30"/>
  </p:handoutMasterIdLst>
  <p:sldIdLst>
    <p:sldId id="271"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6"/>
    <p:restoredTop sz="94694"/>
  </p:normalViewPr>
  <p:slideViewPr>
    <p:cSldViewPr snapToGrid="0" snapToObjects="1" showGuides="1">
      <p:cViewPr>
        <p:scale>
          <a:sx n="41" d="100"/>
          <a:sy n="41" d="100"/>
        </p:scale>
        <p:origin x="1722" y="594"/>
      </p:cViewPr>
      <p:guideLst>
        <p:guide orient="horz" pos="4320"/>
        <p:guide pos="7680"/>
      </p:guideLst>
    </p:cSldViewPr>
  </p:slideViewPr>
  <p:notesTextViewPr>
    <p:cViewPr>
      <p:scale>
        <a:sx n="1" d="1"/>
        <a:sy n="1" d="1"/>
      </p:scale>
      <p:origin x="0" y="0"/>
    </p:cViewPr>
  </p:notesTextViewPr>
  <p:notesViewPr>
    <p:cSldViewPr snapToGrid="0" snapToObjects="1" showGuide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B3F030-25FA-A543-BFBF-761F02F6E6F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D2FF95-1FB2-5A4B-9A6E-D20FD3F889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D85D7A-CA92-5443-B821-58789E6DAB76}" type="datetimeFigureOut">
              <a:rPr lang="en-US" smtClean="0"/>
              <a:t>1/22/2025</a:t>
            </a:fld>
            <a:endParaRPr lang="en-US"/>
          </a:p>
        </p:txBody>
      </p:sp>
      <p:sp>
        <p:nvSpPr>
          <p:cNvPr id="4" name="Footer Placeholder 3">
            <a:extLst>
              <a:ext uri="{FF2B5EF4-FFF2-40B4-BE49-F238E27FC236}">
                <a16:creationId xmlns:a16="http://schemas.microsoft.com/office/drawing/2014/main" id="{E2E767D0-AB74-6C43-A583-F67E29C687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3F816A-9129-4E41-8433-93B18C20AF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C43503-5B3B-BC4A-B035-E280D65815FD}" type="slidenum">
              <a:rPr lang="en-US" smtClean="0"/>
              <a:t>‹#›</a:t>
            </a:fld>
            <a:endParaRPr lang="en-US"/>
          </a:p>
        </p:txBody>
      </p:sp>
    </p:spTree>
    <p:extLst>
      <p:ext uri="{BB962C8B-B14F-4D97-AF65-F5344CB8AC3E}">
        <p14:creationId xmlns:p14="http://schemas.microsoft.com/office/powerpoint/2010/main" val="2329540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E2952A-E45C-4CFD-B19C-8BAB0D92CAF5}" type="datetimeFigureOut">
              <a:rPr lang="LID4096" smtClean="0"/>
              <a:t>01/22/2025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9B0BC-D092-4379-8AA3-497AF5858718}" type="slidenum">
              <a:rPr lang="LID4096" smtClean="0"/>
              <a:t>‹#›</a:t>
            </a:fld>
            <a:endParaRPr lang="LID4096"/>
          </a:p>
        </p:txBody>
      </p:sp>
    </p:spTree>
    <p:extLst>
      <p:ext uri="{BB962C8B-B14F-4D97-AF65-F5344CB8AC3E}">
        <p14:creationId xmlns:p14="http://schemas.microsoft.com/office/powerpoint/2010/main" val="865006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Go over how Bright Space communication tool works. Make sure all students have set their student portal profile to an email they actually use.  This is to ensure that all announcements from the course as well as grade updates and feedback will send notifications to their mailbox. Bright Space only uses what is in the student portal profile email (by default it the student’s NAIT email, which he/she might not check daily). </a:t>
            </a:r>
          </a:p>
          <a:p>
            <a:endParaRPr lang="LID4096" dirty="0"/>
          </a:p>
        </p:txBody>
      </p:sp>
      <p:sp>
        <p:nvSpPr>
          <p:cNvPr id="4" name="Slide Number Placeholder 3"/>
          <p:cNvSpPr>
            <a:spLocks noGrp="1"/>
          </p:cNvSpPr>
          <p:nvPr>
            <p:ph type="sldNum" sz="quarter" idx="5"/>
          </p:nvPr>
        </p:nvSpPr>
        <p:spPr/>
        <p:txBody>
          <a:bodyPr/>
          <a:lstStyle/>
          <a:p>
            <a:fld id="{4FF9B0BC-D092-4379-8AA3-497AF5858718}" type="slidenum">
              <a:rPr lang="LID4096" smtClean="0"/>
              <a:t>2</a:t>
            </a:fld>
            <a:endParaRPr lang="LID4096"/>
          </a:p>
        </p:txBody>
      </p:sp>
    </p:spTree>
    <p:extLst>
      <p:ext uri="{BB962C8B-B14F-4D97-AF65-F5344CB8AC3E}">
        <p14:creationId xmlns:p14="http://schemas.microsoft.com/office/powerpoint/2010/main" val="23686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E9E9-72B1-C991-1F29-39C5D01FC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22BFF-32E7-EB95-9D1A-559D8AD15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B9DC5-25A5-7656-43EB-D7982830A1E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5591B26F-519B-4FF1-20DC-D9F618380B2E}"/>
              </a:ext>
            </a:extLst>
          </p:cNvPr>
          <p:cNvSpPr>
            <a:spLocks noGrp="1"/>
          </p:cNvSpPr>
          <p:nvPr>
            <p:ph type="sldNum" sz="quarter" idx="5"/>
          </p:nvPr>
        </p:nvSpPr>
        <p:spPr/>
        <p:txBody>
          <a:bodyPr/>
          <a:lstStyle/>
          <a:p>
            <a:fld id="{4FF9B0BC-D092-4379-8AA3-497AF5858718}" type="slidenum">
              <a:rPr lang="LID4096" smtClean="0"/>
              <a:t>3</a:t>
            </a:fld>
            <a:endParaRPr lang="LID4096"/>
          </a:p>
        </p:txBody>
      </p:sp>
    </p:spTree>
    <p:extLst>
      <p:ext uri="{BB962C8B-B14F-4D97-AF65-F5344CB8AC3E}">
        <p14:creationId xmlns:p14="http://schemas.microsoft.com/office/powerpoint/2010/main" val="837122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677E-7919-01C6-5FD3-AFAFB2FAF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71F96-2A5A-2B48-BAB2-E8A233A1F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52BB2-08EB-31D8-D6EA-14F33F21E1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Let your students know how to communicate with you. Let students know that DMIT does NOT have a late submission policy. Only what is submitted on time and to BS is what will be graded. No exception. Even if late by one minute. Do you wish to take a break in the middle of the class, or go straight until the class is done?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endParaRPr lang="en-CA" dirty="0"/>
          </a:p>
        </p:txBody>
      </p:sp>
      <p:sp>
        <p:nvSpPr>
          <p:cNvPr id="4" name="Slide Number Placeholder 3">
            <a:extLst>
              <a:ext uri="{FF2B5EF4-FFF2-40B4-BE49-F238E27FC236}">
                <a16:creationId xmlns:a16="http://schemas.microsoft.com/office/drawing/2014/main" id="{80640655-20E0-F3C3-0BE6-C9279B93BF75}"/>
              </a:ext>
            </a:extLst>
          </p:cNvPr>
          <p:cNvSpPr>
            <a:spLocks noGrp="1"/>
          </p:cNvSpPr>
          <p:nvPr>
            <p:ph type="sldNum" sz="quarter" idx="5"/>
          </p:nvPr>
        </p:nvSpPr>
        <p:spPr/>
        <p:txBody>
          <a:bodyPr/>
          <a:lstStyle/>
          <a:p>
            <a:fld id="{4FF9B0BC-D092-4379-8AA3-497AF5858718}" type="slidenum">
              <a:rPr lang="LID4096" smtClean="0"/>
              <a:t>4</a:t>
            </a:fld>
            <a:endParaRPr lang="LID4096"/>
          </a:p>
        </p:txBody>
      </p:sp>
    </p:spTree>
    <p:extLst>
      <p:ext uri="{BB962C8B-B14F-4D97-AF65-F5344CB8AC3E}">
        <p14:creationId xmlns:p14="http://schemas.microsoft.com/office/powerpoint/2010/main" val="1383674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782C7-D0B1-FDDB-45B1-5153FD419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30305-61F5-671C-BDEF-617F65B57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6C07E-ADE4-7EF8-6D55-CFC22C7824C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8E20772-F836-ECE7-81E1-4C359133EC03}"/>
              </a:ext>
            </a:extLst>
          </p:cNvPr>
          <p:cNvSpPr>
            <a:spLocks noGrp="1"/>
          </p:cNvSpPr>
          <p:nvPr>
            <p:ph type="sldNum" sz="quarter" idx="5"/>
          </p:nvPr>
        </p:nvSpPr>
        <p:spPr/>
        <p:txBody>
          <a:bodyPr/>
          <a:lstStyle/>
          <a:p>
            <a:fld id="{4FF9B0BC-D092-4379-8AA3-497AF5858718}" type="slidenum">
              <a:rPr lang="LID4096" smtClean="0"/>
              <a:t>5</a:t>
            </a:fld>
            <a:endParaRPr lang="LID4096"/>
          </a:p>
        </p:txBody>
      </p:sp>
    </p:spTree>
    <p:extLst>
      <p:ext uri="{BB962C8B-B14F-4D97-AF65-F5344CB8AC3E}">
        <p14:creationId xmlns:p14="http://schemas.microsoft.com/office/powerpoint/2010/main" val="4208325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884D-6CD0-7AF3-AB32-8C4DB12B1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D7EAF-27B1-15D5-21D1-A895EC964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8D7F0-2AE3-F254-C7C3-D44863CCC0DF}"/>
              </a:ext>
            </a:extLst>
          </p:cNvPr>
          <p:cNvSpPr>
            <a:spLocks noGrp="1"/>
          </p:cNvSpPr>
          <p:nvPr>
            <p:ph type="body" idx="1"/>
          </p:nvPr>
        </p:nvSpPr>
        <p:spPr/>
        <p:txBody>
          <a:bodyPr/>
          <a:lstStyle/>
          <a:p>
            <a:r>
              <a:rPr lang="en-CA" dirty="0"/>
              <a:t>Make this less of a ho-hum intro session and more an invitation to students to take a chance and share their goals, assets and areas of improvement with respect to communication </a:t>
            </a:r>
          </a:p>
        </p:txBody>
      </p:sp>
      <p:sp>
        <p:nvSpPr>
          <p:cNvPr id="4" name="Slide Number Placeholder 3">
            <a:extLst>
              <a:ext uri="{FF2B5EF4-FFF2-40B4-BE49-F238E27FC236}">
                <a16:creationId xmlns:a16="http://schemas.microsoft.com/office/drawing/2014/main" id="{119520EF-6452-6E9B-4B24-9C6E15834A82}"/>
              </a:ext>
            </a:extLst>
          </p:cNvPr>
          <p:cNvSpPr>
            <a:spLocks noGrp="1"/>
          </p:cNvSpPr>
          <p:nvPr>
            <p:ph type="sldNum" sz="quarter" idx="5"/>
          </p:nvPr>
        </p:nvSpPr>
        <p:spPr/>
        <p:txBody>
          <a:bodyPr/>
          <a:lstStyle/>
          <a:p>
            <a:fld id="{4FF9B0BC-D092-4379-8AA3-497AF5858718}" type="slidenum">
              <a:rPr lang="LID4096" smtClean="0"/>
              <a:t>6</a:t>
            </a:fld>
            <a:endParaRPr lang="LID4096"/>
          </a:p>
        </p:txBody>
      </p:sp>
    </p:spTree>
    <p:extLst>
      <p:ext uri="{BB962C8B-B14F-4D97-AF65-F5344CB8AC3E}">
        <p14:creationId xmlns:p14="http://schemas.microsoft.com/office/powerpoint/2010/main" val="1265947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Source: </a:t>
            </a:r>
            <a:r>
              <a:rPr lang="en-US" i="1" dirty="0"/>
              <a:t>The Book of Lists, </a:t>
            </a:r>
            <a:r>
              <a:rPr lang="en-US" dirty="0"/>
              <a:t>1977</a:t>
            </a:r>
            <a:endParaRPr lang="en-CA" dirty="0"/>
          </a:p>
          <a:p>
            <a:endParaRPr lang="en-CA" dirty="0"/>
          </a:p>
        </p:txBody>
      </p:sp>
      <p:sp>
        <p:nvSpPr>
          <p:cNvPr id="4" name="Slide Number Placeholder 3"/>
          <p:cNvSpPr>
            <a:spLocks noGrp="1"/>
          </p:cNvSpPr>
          <p:nvPr>
            <p:ph type="sldNum" sz="quarter" idx="5"/>
          </p:nvPr>
        </p:nvSpPr>
        <p:spPr/>
        <p:txBody>
          <a:bodyPr/>
          <a:lstStyle/>
          <a:p>
            <a:fld id="{4FF9B0BC-D092-4379-8AA3-497AF5858718}" type="slidenum">
              <a:rPr lang="LID4096" smtClean="0"/>
              <a:t>8</a:t>
            </a:fld>
            <a:endParaRPr lang="LID4096"/>
          </a:p>
        </p:txBody>
      </p:sp>
    </p:spTree>
    <p:extLst>
      <p:ext uri="{BB962C8B-B14F-4D97-AF65-F5344CB8AC3E}">
        <p14:creationId xmlns:p14="http://schemas.microsoft.com/office/powerpoint/2010/main" val="2728237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7737-6A67-6C6B-B1C2-D5A1BCD27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26C2E-29FC-A65A-0722-667C64885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BEED8-C03E-EED8-5022-606D79439A3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FC4FF32-8963-8440-355F-F390EC9654AB}"/>
              </a:ext>
            </a:extLst>
          </p:cNvPr>
          <p:cNvSpPr>
            <a:spLocks noGrp="1"/>
          </p:cNvSpPr>
          <p:nvPr>
            <p:ph type="sldNum" sz="quarter" idx="5"/>
          </p:nvPr>
        </p:nvSpPr>
        <p:spPr/>
        <p:txBody>
          <a:bodyPr/>
          <a:lstStyle/>
          <a:p>
            <a:fld id="{4FF9B0BC-D092-4379-8AA3-497AF5858718}" type="slidenum">
              <a:rPr lang="LID4096" smtClean="0"/>
              <a:t>9</a:t>
            </a:fld>
            <a:endParaRPr lang="LID4096"/>
          </a:p>
        </p:txBody>
      </p:sp>
    </p:spTree>
    <p:extLst>
      <p:ext uri="{BB962C8B-B14F-4D97-AF65-F5344CB8AC3E}">
        <p14:creationId xmlns:p14="http://schemas.microsoft.com/office/powerpoint/2010/main" val="1000181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8B156-6F03-1972-7F5B-3B3BBB54E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7BF27-CA24-CD97-F763-78B566F24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4F4D7-437D-F363-4D94-7F11537C7FF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635AD6E-A541-CC42-F46E-148A8C99228A}"/>
              </a:ext>
            </a:extLst>
          </p:cNvPr>
          <p:cNvSpPr>
            <a:spLocks noGrp="1"/>
          </p:cNvSpPr>
          <p:nvPr>
            <p:ph type="sldNum" sz="quarter" idx="5"/>
          </p:nvPr>
        </p:nvSpPr>
        <p:spPr/>
        <p:txBody>
          <a:bodyPr/>
          <a:lstStyle/>
          <a:p>
            <a:fld id="{4FF9B0BC-D092-4379-8AA3-497AF5858718}" type="slidenum">
              <a:rPr lang="LID4096" smtClean="0"/>
              <a:t>10</a:t>
            </a:fld>
            <a:endParaRPr lang="LID4096"/>
          </a:p>
        </p:txBody>
      </p:sp>
    </p:spTree>
    <p:extLst>
      <p:ext uri="{BB962C8B-B14F-4D97-AF65-F5344CB8AC3E}">
        <p14:creationId xmlns:p14="http://schemas.microsoft.com/office/powerpoint/2010/main" val="2318416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399F-8EC1-EEF5-BAE1-6CAA5831A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A1450-0E60-86FF-142A-6DA833169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6B6F2-B0F4-85F6-DDE6-4C4A19B509F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B6FF412-5F54-6792-4E7C-546A3CA69F34}"/>
              </a:ext>
            </a:extLst>
          </p:cNvPr>
          <p:cNvSpPr>
            <a:spLocks noGrp="1"/>
          </p:cNvSpPr>
          <p:nvPr>
            <p:ph type="sldNum" sz="quarter" idx="5"/>
          </p:nvPr>
        </p:nvSpPr>
        <p:spPr/>
        <p:txBody>
          <a:bodyPr/>
          <a:lstStyle/>
          <a:p>
            <a:fld id="{4FF9B0BC-D092-4379-8AA3-497AF5858718}" type="slidenum">
              <a:rPr lang="LID4096" smtClean="0"/>
              <a:t>11</a:t>
            </a:fld>
            <a:endParaRPr lang="LID4096"/>
          </a:p>
        </p:txBody>
      </p:sp>
    </p:spTree>
    <p:extLst>
      <p:ext uri="{BB962C8B-B14F-4D97-AF65-F5344CB8AC3E}">
        <p14:creationId xmlns:p14="http://schemas.microsoft.com/office/powerpoint/2010/main" val="2708057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50D8-7D51-6487-3F24-CED682211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F8E36-FE5D-65E5-289B-4966A9291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EF238-F9CA-9E6A-352A-F1D6741A6BB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2D7C42D-5F94-F9B8-E95F-0EED4DFA2D95}"/>
              </a:ext>
            </a:extLst>
          </p:cNvPr>
          <p:cNvSpPr>
            <a:spLocks noGrp="1"/>
          </p:cNvSpPr>
          <p:nvPr>
            <p:ph type="sldNum" sz="quarter" idx="5"/>
          </p:nvPr>
        </p:nvSpPr>
        <p:spPr/>
        <p:txBody>
          <a:bodyPr/>
          <a:lstStyle/>
          <a:p>
            <a:fld id="{4FF9B0BC-D092-4379-8AA3-497AF5858718}" type="slidenum">
              <a:rPr lang="LID4096" smtClean="0"/>
              <a:t>12</a:t>
            </a:fld>
            <a:endParaRPr lang="LID4096"/>
          </a:p>
        </p:txBody>
      </p:sp>
    </p:spTree>
    <p:extLst>
      <p:ext uri="{BB962C8B-B14F-4D97-AF65-F5344CB8AC3E}">
        <p14:creationId xmlns:p14="http://schemas.microsoft.com/office/powerpoint/2010/main" val="238011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442B4-6A27-DBF3-5F58-EA4A776D1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A7A40-E279-00A9-954A-7710F22C4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25EA2-3C10-E3A7-AB8C-87D6C5BD449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922325F-9DD1-B928-DEE1-5762E22833C4}"/>
              </a:ext>
            </a:extLst>
          </p:cNvPr>
          <p:cNvSpPr>
            <a:spLocks noGrp="1"/>
          </p:cNvSpPr>
          <p:nvPr>
            <p:ph type="sldNum" sz="quarter" idx="5"/>
          </p:nvPr>
        </p:nvSpPr>
        <p:spPr/>
        <p:txBody>
          <a:bodyPr/>
          <a:lstStyle/>
          <a:p>
            <a:fld id="{4FF9B0BC-D092-4379-8AA3-497AF5858718}" type="slidenum">
              <a:rPr lang="LID4096" smtClean="0"/>
              <a:t>13</a:t>
            </a:fld>
            <a:endParaRPr lang="LID4096"/>
          </a:p>
        </p:txBody>
      </p:sp>
    </p:spTree>
    <p:extLst>
      <p:ext uri="{BB962C8B-B14F-4D97-AF65-F5344CB8AC3E}">
        <p14:creationId xmlns:p14="http://schemas.microsoft.com/office/powerpoint/2010/main" val="3443510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DA3C-6B80-7367-1355-2480BC6A1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EB2BA-B41D-AE3A-4BC0-956CB2371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7A74F-E7B4-006F-7619-387CCB49D60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3C1F82B-F320-478A-D0B0-7CE0245DDEAB}"/>
              </a:ext>
            </a:extLst>
          </p:cNvPr>
          <p:cNvSpPr>
            <a:spLocks noGrp="1"/>
          </p:cNvSpPr>
          <p:nvPr>
            <p:ph type="sldNum" sz="quarter" idx="5"/>
          </p:nvPr>
        </p:nvSpPr>
        <p:spPr/>
        <p:txBody>
          <a:bodyPr/>
          <a:lstStyle/>
          <a:p>
            <a:fld id="{4FF9B0BC-D092-4379-8AA3-497AF5858718}" type="slidenum">
              <a:rPr lang="LID4096" smtClean="0"/>
              <a:t>14</a:t>
            </a:fld>
            <a:endParaRPr lang="LID4096"/>
          </a:p>
        </p:txBody>
      </p:sp>
    </p:spTree>
    <p:extLst>
      <p:ext uri="{BB962C8B-B14F-4D97-AF65-F5344CB8AC3E}">
        <p14:creationId xmlns:p14="http://schemas.microsoft.com/office/powerpoint/2010/main" val="2838712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C7BD-4DA6-2762-5C06-E37D0EB2D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F4D922-3519-4AE8-8CCE-487997407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26E8F-430A-E6B8-850B-629F5DFE914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9F8E63C-D56E-CD47-82FA-404C47118F10}"/>
              </a:ext>
            </a:extLst>
          </p:cNvPr>
          <p:cNvSpPr>
            <a:spLocks noGrp="1"/>
          </p:cNvSpPr>
          <p:nvPr>
            <p:ph type="sldNum" sz="quarter" idx="5"/>
          </p:nvPr>
        </p:nvSpPr>
        <p:spPr/>
        <p:txBody>
          <a:bodyPr/>
          <a:lstStyle/>
          <a:p>
            <a:fld id="{4FF9B0BC-D092-4379-8AA3-497AF5858718}" type="slidenum">
              <a:rPr lang="LID4096" smtClean="0"/>
              <a:t>15</a:t>
            </a:fld>
            <a:endParaRPr lang="LID4096"/>
          </a:p>
        </p:txBody>
      </p:sp>
    </p:spTree>
    <p:extLst>
      <p:ext uri="{BB962C8B-B14F-4D97-AF65-F5344CB8AC3E}">
        <p14:creationId xmlns:p14="http://schemas.microsoft.com/office/powerpoint/2010/main" val="4221948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1240-B69A-96AF-C6BA-B023E6AD1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1780B-F931-AA87-EA86-1F2B8DD76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52423-6409-37C7-C70C-CFA0BD78C1B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E225094-0D26-DBE9-3ADE-D2A5370FA006}"/>
              </a:ext>
            </a:extLst>
          </p:cNvPr>
          <p:cNvSpPr>
            <a:spLocks noGrp="1"/>
          </p:cNvSpPr>
          <p:nvPr>
            <p:ph type="sldNum" sz="quarter" idx="5"/>
          </p:nvPr>
        </p:nvSpPr>
        <p:spPr/>
        <p:txBody>
          <a:bodyPr/>
          <a:lstStyle/>
          <a:p>
            <a:fld id="{4FF9B0BC-D092-4379-8AA3-497AF5858718}" type="slidenum">
              <a:rPr lang="LID4096" smtClean="0"/>
              <a:t>16</a:t>
            </a:fld>
            <a:endParaRPr lang="LID4096"/>
          </a:p>
        </p:txBody>
      </p:sp>
    </p:spTree>
    <p:extLst>
      <p:ext uri="{BB962C8B-B14F-4D97-AF65-F5344CB8AC3E}">
        <p14:creationId xmlns:p14="http://schemas.microsoft.com/office/powerpoint/2010/main" val="1815177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0989A-6F40-B56D-7E87-0279C2D39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0C835-CFA2-0673-AD41-CBFE1AD15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6A9E0-50D7-33E6-73D9-5A4D719A098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50B5DB1-885B-F6D6-10BE-CB0B32A7353C}"/>
              </a:ext>
            </a:extLst>
          </p:cNvPr>
          <p:cNvSpPr>
            <a:spLocks noGrp="1"/>
          </p:cNvSpPr>
          <p:nvPr>
            <p:ph type="sldNum" sz="quarter" idx="5"/>
          </p:nvPr>
        </p:nvSpPr>
        <p:spPr/>
        <p:txBody>
          <a:bodyPr/>
          <a:lstStyle/>
          <a:p>
            <a:fld id="{4FF9B0BC-D092-4379-8AA3-497AF5858718}" type="slidenum">
              <a:rPr lang="LID4096" smtClean="0"/>
              <a:t>17</a:t>
            </a:fld>
            <a:endParaRPr lang="LID4096"/>
          </a:p>
        </p:txBody>
      </p:sp>
    </p:spTree>
    <p:extLst>
      <p:ext uri="{BB962C8B-B14F-4D97-AF65-F5344CB8AC3E}">
        <p14:creationId xmlns:p14="http://schemas.microsoft.com/office/powerpoint/2010/main" val="259277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0E739-61B4-A860-0A39-22262F72F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FA056-A5A8-86A0-854D-7D62556FD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FF3FA-A96C-3576-2F6E-B62293AEBF8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5856EBF-7AA1-5EFE-968F-BEBE86449004}"/>
              </a:ext>
            </a:extLst>
          </p:cNvPr>
          <p:cNvSpPr>
            <a:spLocks noGrp="1"/>
          </p:cNvSpPr>
          <p:nvPr>
            <p:ph type="sldNum" sz="quarter" idx="5"/>
          </p:nvPr>
        </p:nvSpPr>
        <p:spPr/>
        <p:txBody>
          <a:bodyPr/>
          <a:lstStyle/>
          <a:p>
            <a:fld id="{4FF9B0BC-D092-4379-8AA3-497AF5858718}" type="slidenum">
              <a:rPr lang="LID4096" smtClean="0"/>
              <a:t>18</a:t>
            </a:fld>
            <a:endParaRPr lang="LID4096"/>
          </a:p>
        </p:txBody>
      </p:sp>
    </p:spTree>
    <p:extLst>
      <p:ext uri="{BB962C8B-B14F-4D97-AF65-F5344CB8AC3E}">
        <p14:creationId xmlns:p14="http://schemas.microsoft.com/office/powerpoint/2010/main" val="716700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8638E-B598-76EA-2423-A79CCEE87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D438B-7354-3A8F-6BDF-FE2A28D2B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17865-BEBC-92AF-D28D-E10F367CB94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84C0602-4601-1620-0944-336B270710CB}"/>
              </a:ext>
            </a:extLst>
          </p:cNvPr>
          <p:cNvSpPr>
            <a:spLocks noGrp="1"/>
          </p:cNvSpPr>
          <p:nvPr>
            <p:ph type="sldNum" sz="quarter" idx="5"/>
          </p:nvPr>
        </p:nvSpPr>
        <p:spPr/>
        <p:txBody>
          <a:bodyPr/>
          <a:lstStyle/>
          <a:p>
            <a:fld id="{4FF9B0BC-D092-4379-8AA3-497AF5858718}" type="slidenum">
              <a:rPr lang="LID4096" smtClean="0"/>
              <a:t>19</a:t>
            </a:fld>
            <a:endParaRPr lang="LID4096"/>
          </a:p>
        </p:txBody>
      </p:sp>
    </p:spTree>
    <p:extLst>
      <p:ext uri="{BB962C8B-B14F-4D97-AF65-F5344CB8AC3E}">
        <p14:creationId xmlns:p14="http://schemas.microsoft.com/office/powerpoint/2010/main" val="34886261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63A17-BEA0-B389-DDD8-525E1C994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AFAC0-C60A-A753-1F47-D486B7134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B4653-0662-4288-CC5C-B0249F6FFE3C}"/>
              </a:ext>
            </a:extLst>
          </p:cNvPr>
          <p:cNvSpPr>
            <a:spLocks noGrp="1"/>
          </p:cNvSpPr>
          <p:nvPr>
            <p:ph type="body" idx="1"/>
          </p:nvPr>
        </p:nvSpPr>
        <p:spPr/>
        <p:txBody>
          <a:bodyPr/>
          <a:lstStyle/>
          <a:p>
            <a:r>
              <a:rPr lang="en-CA" dirty="0"/>
              <a:t>Explain this is your attempt to understand where the students are so that you can adjust the tone and even style of your teaching to their needs, focus on what needs focus and bypass concepts students clearly understand.</a:t>
            </a:r>
          </a:p>
          <a:p>
            <a:r>
              <a:rPr lang="en-CA" dirty="0"/>
              <a:t>But the REAL reason is to convince the students of the validity and need for the concepts taught in this course. Once the student makes a connection between the concepts and his/her career, motivation for learning increases. </a:t>
            </a:r>
          </a:p>
          <a:p>
            <a:endParaRPr lang="en-CA" dirty="0"/>
          </a:p>
        </p:txBody>
      </p:sp>
      <p:sp>
        <p:nvSpPr>
          <p:cNvPr id="4" name="Slide Number Placeholder 3">
            <a:extLst>
              <a:ext uri="{FF2B5EF4-FFF2-40B4-BE49-F238E27FC236}">
                <a16:creationId xmlns:a16="http://schemas.microsoft.com/office/drawing/2014/main" id="{7EE00105-6D64-4B69-D30D-83A477A493D1}"/>
              </a:ext>
            </a:extLst>
          </p:cNvPr>
          <p:cNvSpPr>
            <a:spLocks noGrp="1"/>
          </p:cNvSpPr>
          <p:nvPr>
            <p:ph type="sldNum" sz="quarter" idx="5"/>
          </p:nvPr>
        </p:nvSpPr>
        <p:spPr/>
        <p:txBody>
          <a:bodyPr/>
          <a:lstStyle/>
          <a:p>
            <a:fld id="{4FF9B0BC-D092-4379-8AA3-497AF5858718}" type="slidenum">
              <a:rPr lang="LID4096" smtClean="0"/>
              <a:t>20</a:t>
            </a:fld>
            <a:endParaRPr lang="LID4096"/>
          </a:p>
        </p:txBody>
      </p:sp>
    </p:spTree>
    <p:extLst>
      <p:ext uri="{BB962C8B-B14F-4D97-AF65-F5344CB8AC3E}">
        <p14:creationId xmlns:p14="http://schemas.microsoft.com/office/powerpoint/2010/main" val="2139771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7CEC-FE79-71C0-2B86-278688358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7E4AC-F71B-F685-89CE-AC855D8EF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862C7-EB1D-9663-EB14-3BFEEFDBD868}"/>
              </a:ext>
            </a:extLst>
          </p:cNvPr>
          <p:cNvSpPr>
            <a:spLocks noGrp="1"/>
          </p:cNvSpPr>
          <p:nvPr>
            <p:ph type="body" idx="1"/>
          </p:nvPr>
        </p:nvSpPr>
        <p:spPr/>
        <p:txBody>
          <a:bodyPr/>
          <a:lstStyle/>
          <a:p>
            <a:r>
              <a:rPr lang="en-CA" dirty="0"/>
              <a:t>Explain that this course by itself is an organization. Our interactions are not all that different than a typical workplace. We have a structure, some participants and an assumed leader. The teacher must be ethical in the decisions affecting students to be fair and equitable to all. </a:t>
            </a:r>
          </a:p>
        </p:txBody>
      </p:sp>
      <p:sp>
        <p:nvSpPr>
          <p:cNvPr id="4" name="Slide Number Placeholder 3">
            <a:extLst>
              <a:ext uri="{FF2B5EF4-FFF2-40B4-BE49-F238E27FC236}">
                <a16:creationId xmlns:a16="http://schemas.microsoft.com/office/drawing/2014/main" id="{47960D99-50CF-C0DB-830C-5EBC431FDC9A}"/>
              </a:ext>
            </a:extLst>
          </p:cNvPr>
          <p:cNvSpPr>
            <a:spLocks noGrp="1"/>
          </p:cNvSpPr>
          <p:nvPr>
            <p:ph type="sldNum" sz="quarter" idx="5"/>
          </p:nvPr>
        </p:nvSpPr>
        <p:spPr/>
        <p:txBody>
          <a:bodyPr/>
          <a:lstStyle/>
          <a:p>
            <a:fld id="{4FF9B0BC-D092-4379-8AA3-497AF5858718}" type="slidenum">
              <a:rPr lang="LID4096" smtClean="0"/>
              <a:t>21</a:t>
            </a:fld>
            <a:endParaRPr lang="LID4096"/>
          </a:p>
        </p:txBody>
      </p:sp>
    </p:spTree>
    <p:extLst>
      <p:ext uri="{BB962C8B-B14F-4D97-AF65-F5344CB8AC3E}">
        <p14:creationId xmlns:p14="http://schemas.microsoft.com/office/powerpoint/2010/main" val="629952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3118-F23B-EA0E-F9F7-9B4503CB0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BAE97-3FB1-0743-D794-4607367D5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C9A7D-689C-4D2F-CDC3-E7DDB1DEC59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D4F0AEF-B1F5-389F-12F7-958D36333F50}"/>
              </a:ext>
            </a:extLst>
          </p:cNvPr>
          <p:cNvSpPr>
            <a:spLocks noGrp="1"/>
          </p:cNvSpPr>
          <p:nvPr>
            <p:ph type="sldNum" sz="quarter" idx="5"/>
          </p:nvPr>
        </p:nvSpPr>
        <p:spPr/>
        <p:txBody>
          <a:bodyPr/>
          <a:lstStyle/>
          <a:p>
            <a:fld id="{4FF9B0BC-D092-4379-8AA3-497AF5858718}" type="slidenum">
              <a:rPr lang="LID4096" smtClean="0"/>
              <a:t>22</a:t>
            </a:fld>
            <a:endParaRPr lang="LID4096"/>
          </a:p>
        </p:txBody>
      </p:sp>
    </p:spTree>
    <p:extLst>
      <p:ext uri="{BB962C8B-B14F-4D97-AF65-F5344CB8AC3E}">
        <p14:creationId xmlns:p14="http://schemas.microsoft.com/office/powerpoint/2010/main" val="2635745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5799" y="5078186"/>
            <a:ext cx="21210814" cy="2937782"/>
          </a:xfrm>
        </p:spPr>
        <p:txBody>
          <a:bodyPr anchor="t">
            <a:noAutofit/>
          </a:bodyPr>
          <a:lstStyle>
            <a:lvl1pPr algn="ctr">
              <a:lnSpc>
                <a:spcPct val="100000"/>
              </a:lnSpc>
              <a:defRPr sz="96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1585799" y="8752114"/>
            <a:ext cx="21210814" cy="2269673"/>
          </a:xfrm>
        </p:spPr>
        <p:txBody>
          <a:bodyPr/>
          <a:lstStyle>
            <a:lvl1pPr marL="0" indent="0" algn="ctr">
              <a:buNone/>
              <a:defRPr sz="4800">
                <a:solidFill>
                  <a:schemeClr val="bg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a:t>Click to edit Master subtitle style</a:t>
            </a:r>
            <a:endParaRPr lang="en-US" dirty="0"/>
          </a:p>
        </p:txBody>
      </p:sp>
    </p:spTree>
    <p:extLst>
      <p:ext uri="{BB962C8B-B14F-4D97-AF65-F5344CB8AC3E}">
        <p14:creationId xmlns:p14="http://schemas.microsoft.com/office/powerpoint/2010/main" val="301850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72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1676291" y="3651250"/>
            <a:ext cx="21029831" cy="73738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userDrawn="1"/>
        </p:nvSpPr>
        <p:spPr>
          <a:xfrm>
            <a:off x="3962400" y="135987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2597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lvl1pPr>
          </a:lstStyle>
          <a:p>
            <a:r>
              <a:rPr lang="en-US"/>
              <a:t>Click to edit Master title style</a:t>
            </a:r>
            <a:endParaRPr lang="en-US" dirty="0"/>
          </a:p>
        </p:txBody>
      </p:sp>
      <p:sp>
        <p:nvSpPr>
          <p:cNvPr id="3" name="Content Placeholder 2"/>
          <p:cNvSpPr>
            <a:spLocks noGrp="1"/>
          </p:cNvSpPr>
          <p:nvPr>
            <p:ph sz="half" idx="1"/>
          </p:nvPr>
        </p:nvSpPr>
        <p:spPr>
          <a:xfrm>
            <a:off x="1676291" y="3651249"/>
            <a:ext cx="10362526" cy="9101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3596" y="3651250"/>
            <a:ext cx="10362526" cy="7566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9497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1676291" y="3651250"/>
            <a:ext cx="21029831" cy="696232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574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1585799" y="5570555"/>
            <a:ext cx="21210814" cy="2937782"/>
          </a:xfrm>
        </p:spPr>
        <p:txBody>
          <a:bodyPr anchor="t">
            <a:noAutofit/>
          </a:bodyPr>
          <a:lstStyle>
            <a:lvl1pPr algn="ctr">
              <a:lnSpc>
                <a:spcPct val="100000"/>
              </a:lnSpc>
              <a:defRPr sz="8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3913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87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5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b="0" i="0">
                <a:solidFill>
                  <a:schemeClr val="tx1">
                    <a:tint val="75000"/>
                  </a:schemeClr>
                </a:solidFill>
                <a:latin typeface="Arial" panose="020B0604020202020204" pitchFamily="34" charset="0"/>
                <a:cs typeface="Arial" panose="020B0604020202020204" pitchFamily="34" charset="0"/>
              </a:defRPr>
            </a:lvl1pPr>
          </a:lstStyle>
          <a:p>
            <a:fld id="{1D4256BD-EBF6-F04C-B88C-52582AC3F228}" type="datetimeFigureOut">
              <a:rPr lang="en-US" smtClean="0"/>
              <a:pPr/>
              <a:t>1/22/2025</a:t>
            </a:fld>
            <a:endParaRPr 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b="0" i="0">
                <a:solidFill>
                  <a:schemeClr val="tx1">
                    <a:tint val="75000"/>
                  </a:schemeClr>
                </a:solidFill>
                <a:latin typeface="Arial" panose="020B0604020202020204" pitchFamily="34" charset="0"/>
                <a:cs typeface="Arial" panose="020B0604020202020204" pitchFamily="34" charset="0"/>
              </a:defRPr>
            </a:lvl1pPr>
          </a:lstStyle>
          <a:p>
            <a:fld id="{43E0FCCE-2EC3-1049-A592-35D9C6652762}" type="slidenum">
              <a:rPr lang="en-US" smtClean="0"/>
              <a:pPr/>
              <a:t>‹#›</a:t>
            </a:fld>
            <a:endParaRPr lang="en-US"/>
          </a:p>
        </p:txBody>
      </p:sp>
    </p:spTree>
    <p:extLst>
      <p:ext uri="{BB962C8B-B14F-4D97-AF65-F5344CB8AC3E}">
        <p14:creationId xmlns:p14="http://schemas.microsoft.com/office/powerpoint/2010/main" val="2033442270"/>
      </p:ext>
    </p:extLst>
  </p:cSld>
  <p:clrMap bg1="lt1" tx1="dk1" bg2="lt2" tx2="dk2" accent1="accent1" accent2="accent2" accent3="accent3" accent4="accent4" accent5="accent5" accent6="accent6" hlink="hlink" folHlink="folHlink"/>
  <p:sldLayoutIdLst>
    <p:sldLayoutId id="2147483700" r:id="rId1"/>
    <p:sldLayoutId id="2147483698" r:id="rId2"/>
    <p:sldLayoutId id="2147483695" r:id="rId3"/>
    <p:sldLayoutId id="2147483676" r:id="rId4"/>
    <p:sldLayoutId id="2147483703" r:id="rId5"/>
    <p:sldLayoutId id="2147483704" r:id="rId6"/>
    <p:sldLayoutId id="2147483705" r:id="rId7"/>
  </p:sldLayoutIdLst>
  <p:txStyles>
    <p:titleStyle>
      <a:lvl1pPr algn="l" defTabSz="1828709" rtl="0" eaLnBrk="1" latinLnBrk="0" hangingPunct="1">
        <a:lnSpc>
          <a:spcPct val="90000"/>
        </a:lnSpc>
        <a:spcBef>
          <a:spcPct val="0"/>
        </a:spcBef>
        <a:buNone/>
        <a:defRPr sz="7200" b="1" i="0" kern="1200">
          <a:solidFill>
            <a:schemeClr val="accent1"/>
          </a:solidFill>
          <a:latin typeface="Arial" panose="020B0604020202020204" pitchFamily="34" charset="0"/>
          <a:ea typeface="+mj-ea"/>
          <a:cs typeface="Arial" panose="020B0604020202020204" pitchFamily="34" charset="0"/>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b="0" i="0" kern="1200">
          <a:solidFill>
            <a:schemeClr val="tx1"/>
          </a:solidFill>
          <a:latin typeface="Arial" panose="020B0604020202020204" pitchFamily="34" charset="0"/>
          <a:ea typeface="+mn-ea"/>
          <a:cs typeface="Arial" panose="020B0604020202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4800" b="0" i="0" kern="1200">
          <a:solidFill>
            <a:schemeClr val="tx1"/>
          </a:solidFill>
          <a:latin typeface="Arial" panose="020B0604020202020204" pitchFamily="34" charset="0"/>
          <a:ea typeface="+mn-ea"/>
          <a:cs typeface="Arial" panose="020B0604020202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4000" b="0" i="0" kern="1200">
          <a:solidFill>
            <a:schemeClr val="tx1"/>
          </a:solidFill>
          <a:latin typeface="Arial" panose="020B0604020202020204" pitchFamily="34" charset="0"/>
          <a:ea typeface="+mn-ea"/>
          <a:cs typeface="Arial" panose="020B0604020202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4F75-93C1-9D40-86A3-4C13A50E20D0}"/>
              </a:ext>
            </a:extLst>
          </p:cNvPr>
          <p:cNvSpPr>
            <a:spLocks noGrp="1"/>
          </p:cNvSpPr>
          <p:nvPr>
            <p:ph type="ctrTitle"/>
          </p:nvPr>
        </p:nvSpPr>
        <p:spPr/>
        <p:txBody>
          <a:bodyPr/>
          <a:lstStyle/>
          <a:p>
            <a:r>
              <a:rPr lang="en-US" dirty="0"/>
              <a:t>DDSN1001</a:t>
            </a:r>
          </a:p>
        </p:txBody>
      </p:sp>
      <p:sp>
        <p:nvSpPr>
          <p:cNvPr id="3" name="Subtitle 2">
            <a:extLst>
              <a:ext uri="{FF2B5EF4-FFF2-40B4-BE49-F238E27FC236}">
                <a16:creationId xmlns:a16="http://schemas.microsoft.com/office/drawing/2014/main" id="{53D672B5-6320-EE4E-B160-EE8483FDF106}"/>
              </a:ext>
            </a:extLst>
          </p:cNvPr>
          <p:cNvSpPr>
            <a:spLocks noGrp="1"/>
          </p:cNvSpPr>
          <p:nvPr>
            <p:ph type="subTitle" idx="1"/>
          </p:nvPr>
        </p:nvSpPr>
        <p:spPr/>
        <p:txBody>
          <a:bodyPr/>
          <a:lstStyle/>
          <a:p>
            <a:r>
              <a:rPr lang="en-US" dirty="0"/>
              <a:t>Interpersonal Design Practices and Ethical Standards</a:t>
            </a:r>
          </a:p>
        </p:txBody>
      </p:sp>
    </p:spTree>
    <p:extLst>
      <p:ext uri="{BB962C8B-B14F-4D97-AF65-F5344CB8AC3E}">
        <p14:creationId xmlns:p14="http://schemas.microsoft.com/office/powerpoint/2010/main" val="108859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14D4-E0EF-2E45-A193-2BD273BD39D6}"/>
              </a:ext>
            </a:extLst>
          </p:cNvPr>
          <p:cNvSpPr>
            <a:spLocks noGrp="1"/>
          </p:cNvSpPr>
          <p:nvPr>
            <p:ph type="title"/>
          </p:nvPr>
        </p:nvSpPr>
        <p:spPr/>
        <p:txBody>
          <a:bodyPr/>
          <a:lstStyle/>
          <a:p>
            <a:r>
              <a:rPr lang="en-US" dirty="0"/>
              <a:t>Instructor Introduction</a:t>
            </a:r>
          </a:p>
        </p:txBody>
      </p:sp>
      <p:sp>
        <p:nvSpPr>
          <p:cNvPr id="3" name="Content Placeholder 2">
            <a:extLst>
              <a:ext uri="{FF2B5EF4-FFF2-40B4-BE49-F238E27FC236}">
                <a16:creationId xmlns:a16="http://schemas.microsoft.com/office/drawing/2014/main" id="{1DEE1F78-D5B2-A845-8BE4-16DFC9204BDA}"/>
              </a:ext>
            </a:extLst>
          </p:cNvPr>
          <p:cNvSpPr>
            <a:spLocks noGrp="1"/>
          </p:cNvSpPr>
          <p:nvPr>
            <p:ph idx="1"/>
          </p:nvPr>
        </p:nvSpPr>
        <p:spPr/>
        <p:txBody>
          <a:bodyPr/>
          <a:lstStyle/>
          <a:p>
            <a:r>
              <a:rPr lang="en-US" dirty="0"/>
              <a:t>Welcome</a:t>
            </a:r>
          </a:p>
          <a:p>
            <a:r>
              <a:rPr lang="en-US" dirty="0"/>
              <a:t>Brightspace</a:t>
            </a:r>
          </a:p>
          <a:p>
            <a:r>
              <a:rPr lang="en-US" dirty="0"/>
              <a:t>Student Portal Profile</a:t>
            </a:r>
          </a:p>
          <a:p>
            <a:endParaRPr lang="en-US" dirty="0"/>
          </a:p>
          <a:p>
            <a:endParaRPr lang="en-US" dirty="0"/>
          </a:p>
        </p:txBody>
      </p:sp>
    </p:spTree>
    <p:extLst>
      <p:ext uri="{BB962C8B-B14F-4D97-AF65-F5344CB8AC3E}">
        <p14:creationId xmlns:p14="http://schemas.microsoft.com/office/powerpoint/2010/main" val="364689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55A1-59CA-7809-708D-E87FDC802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1D5A3-7C4E-0A60-6990-760F04E17B9D}"/>
              </a:ext>
            </a:extLst>
          </p:cNvPr>
          <p:cNvSpPr>
            <a:spLocks noGrp="1"/>
          </p:cNvSpPr>
          <p:nvPr>
            <p:ph type="title"/>
          </p:nvPr>
        </p:nvSpPr>
        <p:spPr/>
        <p:txBody>
          <a:bodyPr/>
          <a:lstStyle/>
          <a:p>
            <a:r>
              <a:rPr lang="en-US" dirty="0"/>
              <a:t>About DDSN1001</a:t>
            </a:r>
          </a:p>
        </p:txBody>
      </p:sp>
      <p:sp>
        <p:nvSpPr>
          <p:cNvPr id="3" name="Content Placeholder 2">
            <a:extLst>
              <a:ext uri="{FF2B5EF4-FFF2-40B4-BE49-F238E27FC236}">
                <a16:creationId xmlns:a16="http://schemas.microsoft.com/office/drawing/2014/main" id="{8B02C678-11A7-2238-3AC9-647F0D737459}"/>
              </a:ext>
            </a:extLst>
          </p:cNvPr>
          <p:cNvSpPr>
            <a:spLocks noGrp="1"/>
          </p:cNvSpPr>
          <p:nvPr>
            <p:ph idx="1"/>
          </p:nvPr>
        </p:nvSpPr>
        <p:spPr/>
        <p:txBody>
          <a:bodyPr/>
          <a:lstStyle/>
          <a:p>
            <a:r>
              <a:rPr lang="en-US" dirty="0"/>
              <a:t>Course Introduction</a:t>
            </a:r>
          </a:p>
          <a:p>
            <a:pPr marL="0" indent="0">
              <a:buNone/>
            </a:pPr>
            <a:endParaRPr lang="en-US" dirty="0"/>
          </a:p>
          <a:p>
            <a:endParaRPr lang="en-US" dirty="0"/>
          </a:p>
          <a:p>
            <a:pPr marL="0" indent="0" algn="ctr">
              <a:buNone/>
            </a:pPr>
            <a:r>
              <a:rPr lang="en-US" b="1" dirty="0">
                <a:solidFill>
                  <a:schemeClr val="accent2"/>
                </a:solidFill>
              </a:rPr>
              <a:t>Warning</a:t>
            </a:r>
            <a:r>
              <a:rPr lang="en-US" b="1" dirty="0"/>
              <a:t> – hundreds of probing questions ahead!</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5267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E346-0E61-46F5-30A8-E7344F74A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FA061-9B7B-6841-506E-3BF7303F66C7}"/>
              </a:ext>
            </a:extLst>
          </p:cNvPr>
          <p:cNvSpPr>
            <a:spLocks noGrp="1"/>
          </p:cNvSpPr>
          <p:nvPr>
            <p:ph type="title"/>
          </p:nvPr>
        </p:nvSpPr>
        <p:spPr/>
        <p:txBody>
          <a:bodyPr/>
          <a:lstStyle/>
          <a:p>
            <a:r>
              <a:rPr lang="en-US" dirty="0"/>
              <a:t>Course Structure</a:t>
            </a:r>
          </a:p>
        </p:txBody>
      </p:sp>
      <p:sp>
        <p:nvSpPr>
          <p:cNvPr id="3" name="Content Placeholder 2">
            <a:extLst>
              <a:ext uri="{FF2B5EF4-FFF2-40B4-BE49-F238E27FC236}">
                <a16:creationId xmlns:a16="http://schemas.microsoft.com/office/drawing/2014/main" id="{C7F14A97-8409-473C-97AF-09255823BB00}"/>
              </a:ext>
            </a:extLst>
          </p:cNvPr>
          <p:cNvSpPr>
            <a:spLocks noGrp="1"/>
          </p:cNvSpPr>
          <p:nvPr>
            <p:ph idx="1"/>
          </p:nvPr>
        </p:nvSpPr>
        <p:spPr/>
        <p:txBody>
          <a:bodyPr/>
          <a:lstStyle/>
          <a:p>
            <a:r>
              <a:rPr lang="en-US" dirty="0"/>
              <a:t>Instructor/Student Communication Methods</a:t>
            </a:r>
          </a:p>
          <a:p>
            <a:r>
              <a:rPr lang="en-US" dirty="0"/>
              <a:t>Due Dates/No Lates/No Extensions</a:t>
            </a:r>
          </a:p>
          <a:p>
            <a:r>
              <a:rPr lang="en-US" dirty="0"/>
              <a:t>Typical Class Structure</a:t>
            </a:r>
          </a:p>
          <a:p>
            <a:pPr lvl="1"/>
            <a:r>
              <a:rPr lang="en-US" dirty="0"/>
              <a:t>Lecture</a:t>
            </a:r>
          </a:p>
          <a:p>
            <a:pPr lvl="1"/>
            <a:r>
              <a:rPr lang="en-US" dirty="0"/>
              <a:t>Demo</a:t>
            </a:r>
          </a:p>
          <a:p>
            <a:pPr lvl="1"/>
            <a:r>
              <a:rPr lang="en-US" dirty="0"/>
              <a:t>Exercise</a:t>
            </a:r>
          </a:p>
          <a:p>
            <a:pPr lvl="1"/>
            <a:r>
              <a:rPr lang="en-US" dirty="0"/>
              <a:t>Feedback</a:t>
            </a:r>
          </a:p>
          <a:p>
            <a:pPr lvl="1"/>
            <a:r>
              <a:rPr lang="en-US" dirty="0">
                <a:solidFill>
                  <a:schemeClr val="accent2"/>
                </a:solidFill>
              </a:rPr>
              <a:t>Breaks?</a:t>
            </a:r>
          </a:p>
          <a:p>
            <a:endParaRPr lang="en-US" dirty="0"/>
          </a:p>
          <a:p>
            <a:pPr marL="0" indent="0">
              <a:buNone/>
            </a:pPr>
            <a:endParaRPr lang="en-US" dirty="0"/>
          </a:p>
          <a:p>
            <a:endParaRPr lang="en-US" dirty="0"/>
          </a:p>
          <a:p>
            <a:pPr marL="0" indent="0" algn="ctr">
              <a:buNone/>
            </a:pPr>
            <a:endParaRPr lang="en-US" b="1"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957725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6E89-C5FD-5701-4A40-C092BBA2D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61B1C-4C65-CABC-96D3-4EDA48C3BF73}"/>
              </a:ext>
            </a:extLst>
          </p:cNvPr>
          <p:cNvSpPr>
            <a:spLocks noGrp="1"/>
          </p:cNvSpPr>
          <p:nvPr>
            <p:ph type="title"/>
          </p:nvPr>
        </p:nvSpPr>
        <p:spPr/>
        <p:txBody>
          <a:bodyPr/>
          <a:lstStyle/>
          <a:p>
            <a:r>
              <a:rPr lang="en-US" dirty="0"/>
              <a:t>Today’s Goals</a:t>
            </a:r>
          </a:p>
        </p:txBody>
      </p:sp>
      <p:sp>
        <p:nvSpPr>
          <p:cNvPr id="3" name="Content Placeholder 2">
            <a:extLst>
              <a:ext uri="{FF2B5EF4-FFF2-40B4-BE49-F238E27FC236}">
                <a16:creationId xmlns:a16="http://schemas.microsoft.com/office/drawing/2014/main" id="{51643281-73F5-6524-4ABB-6D81B810BF5C}"/>
              </a:ext>
            </a:extLst>
          </p:cNvPr>
          <p:cNvSpPr>
            <a:spLocks noGrp="1"/>
          </p:cNvSpPr>
          <p:nvPr>
            <p:ph idx="1"/>
          </p:nvPr>
        </p:nvSpPr>
        <p:spPr/>
        <p:txBody>
          <a:bodyPr/>
          <a:lstStyle/>
          <a:p>
            <a:r>
              <a:rPr lang="en-US" dirty="0"/>
              <a:t>A bit about you</a:t>
            </a:r>
          </a:p>
          <a:p>
            <a:r>
              <a:rPr lang="en-US" dirty="0"/>
              <a:t>A bit about this course</a:t>
            </a:r>
          </a:p>
          <a:p>
            <a:r>
              <a:rPr lang="en-US" dirty="0"/>
              <a:t>A bit about expectations</a:t>
            </a:r>
          </a:p>
          <a:p>
            <a:r>
              <a:rPr lang="en-US" dirty="0"/>
              <a:t>A bit about what’s coming up</a:t>
            </a:r>
          </a:p>
        </p:txBody>
      </p:sp>
    </p:spTree>
    <p:extLst>
      <p:ext uri="{BB962C8B-B14F-4D97-AF65-F5344CB8AC3E}">
        <p14:creationId xmlns:p14="http://schemas.microsoft.com/office/powerpoint/2010/main" val="384493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3BBC3-8FD6-0A24-8275-4A980FD2E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4D5E8-51EA-5F57-7DBD-734DC85972E4}"/>
              </a:ext>
            </a:extLst>
          </p:cNvPr>
          <p:cNvSpPr>
            <a:spLocks noGrp="1"/>
          </p:cNvSpPr>
          <p:nvPr>
            <p:ph type="title"/>
          </p:nvPr>
        </p:nvSpPr>
        <p:spPr/>
        <p:txBody>
          <a:bodyPr/>
          <a:lstStyle/>
          <a:p>
            <a:r>
              <a:rPr lang="en-US" dirty="0"/>
              <a:t>Introductions (30-40 Minutes)</a:t>
            </a:r>
          </a:p>
        </p:txBody>
      </p:sp>
      <p:sp>
        <p:nvSpPr>
          <p:cNvPr id="3" name="Content Placeholder 2">
            <a:extLst>
              <a:ext uri="{FF2B5EF4-FFF2-40B4-BE49-F238E27FC236}">
                <a16:creationId xmlns:a16="http://schemas.microsoft.com/office/drawing/2014/main" id="{79BF906E-9036-CF9A-047C-07DC4AA242CE}"/>
              </a:ext>
            </a:extLst>
          </p:cNvPr>
          <p:cNvSpPr>
            <a:spLocks noGrp="1"/>
          </p:cNvSpPr>
          <p:nvPr>
            <p:ph idx="1"/>
          </p:nvPr>
        </p:nvSpPr>
        <p:spPr/>
        <p:txBody>
          <a:bodyPr/>
          <a:lstStyle/>
          <a:p>
            <a:pPr marL="0" indent="0">
              <a:buNone/>
            </a:pPr>
            <a:r>
              <a:rPr lang="en-US" dirty="0">
                <a:solidFill>
                  <a:schemeClr val="accent2"/>
                </a:solidFill>
              </a:rPr>
              <a:t>Please share the following:</a:t>
            </a:r>
          </a:p>
          <a:p>
            <a:pPr marL="0" indent="0">
              <a:buNone/>
            </a:pPr>
            <a:endParaRPr lang="en-US" dirty="0"/>
          </a:p>
          <a:p>
            <a:pPr marL="914400" indent="-914400">
              <a:buAutoNum type="arabicPeriod"/>
            </a:pPr>
            <a:r>
              <a:rPr lang="en-US" dirty="0"/>
              <a:t>Your name</a:t>
            </a:r>
          </a:p>
          <a:p>
            <a:pPr marL="914400" indent="-914400">
              <a:buAutoNum type="arabicPeriod"/>
            </a:pPr>
            <a:r>
              <a:rPr lang="en-US" dirty="0"/>
              <a:t>Your ideal career goal</a:t>
            </a:r>
          </a:p>
          <a:p>
            <a:pPr marL="914400" indent="-914400">
              <a:buAutoNum type="arabicPeriod"/>
            </a:pPr>
            <a:r>
              <a:rPr lang="en-US" dirty="0"/>
              <a:t>Your communication style (outspoken, expressive, comfortable, quiet, reflective, shy, etc.)</a:t>
            </a:r>
          </a:p>
        </p:txBody>
      </p:sp>
    </p:spTree>
    <p:extLst>
      <p:ext uri="{BB962C8B-B14F-4D97-AF65-F5344CB8AC3E}">
        <p14:creationId xmlns:p14="http://schemas.microsoft.com/office/powerpoint/2010/main" val="18880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B925-FEA3-164B-0805-4A6F468F0677}"/>
              </a:ext>
            </a:extLst>
          </p:cNvPr>
          <p:cNvSpPr>
            <a:spLocks noGrp="1"/>
          </p:cNvSpPr>
          <p:nvPr>
            <p:ph type="ctrTitle"/>
          </p:nvPr>
        </p:nvSpPr>
        <p:spPr>
          <a:xfrm>
            <a:off x="1585799" y="4093447"/>
            <a:ext cx="21210814" cy="5050553"/>
          </a:xfrm>
        </p:spPr>
        <p:txBody>
          <a:bodyPr/>
          <a:lstStyle/>
          <a:p>
            <a:r>
              <a:rPr lang="en-US" b="0" cap="none" dirty="0"/>
              <a:t>What do you think is the </a:t>
            </a:r>
            <a:r>
              <a:rPr lang="en-US" cap="none" dirty="0"/>
              <a:t>#2</a:t>
            </a:r>
            <a:r>
              <a:rPr lang="en-US" b="0" cap="none" dirty="0"/>
              <a:t> fear among ordinary people in the developed world?</a:t>
            </a:r>
            <a:br>
              <a:rPr lang="en-US" b="0" cap="none" dirty="0"/>
            </a:br>
            <a:br>
              <a:rPr lang="en-US" b="0" cap="none" dirty="0"/>
            </a:br>
            <a:r>
              <a:rPr lang="en-US" cap="none" dirty="0">
                <a:solidFill>
                  <a:schemeClr val="accent1"/>
                </a:solidFill>
              </a:rPr>
              <a:t>Hint: Death is #1</a:t>
            </a:r>
            <a:endParaRPr lang="LID4096" dirty="0">
              <a:solidFill>
                <a:schemeClr val="accent1"/>
              </a:solidFill>
            </a:endParaRPr>
          </a:p>
        </p:txBody>
      </p:sp>
    </p:spTree>
    <p:extLst>
      <p:ext uri="{BB962C8B-B14F-4D97-AF65-F5344CB8AC3E}">
        <p14:creationId xmlns:p14="http://schemas.microsoft.com/office/powerpoint/2010/main" val="3442750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D402E3-6BB7-463B-84AE-9FC39303B94D}"/>
              </a:ext>
            </a:extLst>
          </p:cNvPr>
          <p:cNvPicPr>
            <a:picLocks noChangeAspect="1"/>
          </p:cNvPicPr>
          <p:nvPr/>
        </p:nvPicPr>
        <p:blipFill>
          <a:blip r:embed="rId3"/>
          <a:srcRect b="1233"/>
          <a:stretch/>
        </p:blipFill>
        <p:spPr>
          <a:xfrm>
            <a:off x="11324492" y="1"/>
            <a:ext cx="13057921" cy="13756671"/>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effectLst>
            <a:outerShdw blurRad="381000" dist="152400" dir="10800000" algn="r" rotWithShape="0">
              <a:prstClr val="black">
                <a:alpha val="10000"/>
              </a:prstClr>
            </a:outerShdw>
          </a:effectLst>
        </p:spPr>
      </p:pic>
      <p:sp>
        <p:nvSpPr>
          <p:cNvPr id="3" name="TextBox 2">
            <a:extLst>
              <a:ext uri="{FF2B5EF4-FFF2-40B4-BE49-F238E27FC236}">
                <a16:creationId xmlns:a16="http://schemas.microsoft.com/office/drawing/2014/main" id="{47EEA9B4-F223-1B02-D050-5376C7D3F9CF}"/>
              </a:ext>
            </a:extLst>
          </p:cNvPr>
          <p:cNvSpPr txBox="1"/>
          <p:nvPr/>
        </p:nvSpPr>
        <p:spPr>
          <a:xfrm>
            <a:off x="14911753" y="12983363"/>
            <a:ext cx="4736123" cy="369332"/>
          </a:xfrm>
          <a:prstGeom prst="rect">
            <a:avLst/>
          </a:prstGeom>
          <a:noFill/>
        </p:spPr>
        <p:txBody>
          <a:bodyPr wrap="square" rtlCol="0">
            <a:spAutoFit/>
          </a:bodyPr>
          <a:lstStyle/>
          <a:p>
            <a:pPr algn="ctr"/>
            <a:r>
              <a:rPr lang="en-US" dirty="0">
                <a:solidFill>
                  <a:schemeClr val="accent1"/>
                </a:solidFill>
              </a:rPr>
              <a:t>AI-Generated Image</a:t>
            </a:r>
            <a:endParaRPr lang="LID4096" dirty="0">
              <a:solidFill>
                <a:schemeClr val="accent1"/>
              </a:solidFill>
            </a:endParaRPr>
          </a:p>
        </p:txBody>
      </p:sp>
      <p:sp>
        <p:nvSpPr>
          <p:cNvPr id="4" name="Title 1">
            <a:extLst>
              <a:ext uri="{FF2B5EF4-FFF2-40B4-BE49-F238E27FC236}">
                <a16:creationId xmlns:a16="http://schemas.microsoft.com/office/drawing/2014/main" id="{FE155C79-9283-772A-1CDA-BB06B8A5857B}"/>
              </a:ext>
            </a:extLst>
          </p:cNvPr>
          <p:cNvSpPr txBox="1">
            <a:spLocks/>
          </p:cNvSpPr>
          <p:nvPr/>
        </p:nvSpPr>
        <p:spPr>
          <a:xfrm>
            <a:off x="1585799" y="4332724"/>
            <a:ext cx="21210814" cy="5050553"/>
          </a:xfrm>
          <a:prstGeom prst="rect">
            <a:avLst/>
          </a:prstGeom>
        </p:spPr>
        <p:txBody>
          <a:bodyPr anchor="ctr"/>
          <a:lstStyle>
            <a:lvl1pPr algn="l" defTabSz="1828709" rtl="0" eaLnBrk="1" latinLnBrk="0" hangingPunct="1">
              <a:lnSpc>
                <a:spcPct val="90000"/>
              </a:lnSpc>
              <a:spcBef>
                <a:spcPct val="0"/>
              </a:spcBef>
              <a:buNone/>
              <a:defRPr sz="7200" b="1" i="0" kern="1200">
                <a:solidFill>
                  <a:schemeClr val="accent1"/>
                </a:solidFill>
                <a:latin typeface="Arial" panose="020B0604020202020204" pitchFamily="34" charset="0"/>
                <a:ea typeface="+mj-ea"/>
                <a:cs typeface="Arial" panose="020B0604020202020204" pitchFamily="34" charset="0"/>
              </a:defRPr>
            </a:lvl1pPr>
          </a:lstStyle>
          <a:p>
            <a:r>
              <a:rPr lang="en-US" dirty="0"/>
              <a:t>Public Speaking!</a:t>
            </a:r>
            <a:endParaRPr lang="LID4096" dirty="0"/>
          </a:p>
        </p:txBody>
      </p:sp>
      <p:sp>
        <p:nvSpPr>
          <p:cNvPr id="5" name="TextBox 4">
            <a:extLst>
              <a:ext uri="{FF2B5EF4-FFF2-40B4-BE49-F238E27FC236}">
                <a16:creationId xmlns:a16="http://schemas.microsoft.com/office/drawing/2014/main" id="{647F427A-E106-B090-3275-39D69AB7E367}"/>
              </a:ext>
            </a:extLst>
          </p:cNvPr>
          <p:cNvSpPr txBox="1"/>
          <p:nvPr/>
        </p:nvSpPr>
        <p:spPr>
          <a:xfrm>
            <a:off x="3106615" y="12983363"/>
            <a:ext cx="4736123" cy="369332"/>
          </a:xfrm>
          <a:prstGeom prst="rect">
            <a:avLst/>
          </a:prstGeom>
          <a:noFill/>
        </p:spPr>
        <p:txBody>
          <a:bodyPr wrap="square" rtlCol="0">
            <a:spAutoFit/>
          </a:bodyPr>
          <a:lstStyle/>
          <a:p>
            <a:pPr algn="ctr"/>
            <a:r>
              <a:rPr lang="en-US" dirty="0">
                <a:solidFill>
                  <a:schemeClr val="accent1"/>
                </a:solidFill>
              </a:rPr>
              <a:t>Source: </a:t>
            </a:r>
            <a:r>
              <a:rPr lang="en-US" i="1" dirty="0">
                <a:solidFill>
                  <a:schemeClr val="accent1"/>
                </a:solidFill>
              </a:rPr>
              <a:t>The Book of Lists, 1977</a:t>
            </a:r>
            <a:endParaRPr lang="LID4096" i="1" dirty="0">
              <a:solidFill>
                <a:schemeClr val="accent1"/>
              </a:solidFill>
            </a:endParaRPr>
          </a:p>
        </p:txBody>
      </p:sp>
    </p:spTree>
    <p:extLst>
      <p:ext uri="{BB962C8B-B14F-4D97-AF65-F5344CB8AC3E}">
        <p14:creationId xmlns:p14="http://schemas.microsoft.com/office/powerpoint/2010/main" val="3208279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93BA-E7DA-29A7-28C6-E6DEDCB57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42A50-781E-FE98-B259-BE80704DD5FD}"/>
              </a:ext>
            </a:extLst>
          </p:cNvPr>
          <p:cNvSpPr>
            <a:spLocks noGrp="1"/>
          </p:cNvSpPr>
          <p:nvPr>
            <p:ph type="title"/>
          </p:nvPr>
        </p:nvSpPr>
        <p:spPr/>
        <p:txBody>
          <a:bodyPr/>
          <a:lstStyle/>
          <a:p>
            <a:r>
              <a:rPr lang="en-US" dirty="0"/>
              <a:t>Public Speaking</a:t>
            </a:r>
          </a:p>
        </p:txBody>
      </p:sp>
      <p:sp>
        <p:nvSpPr>
          <p:cNvPr id="3" name="Content Placeholder 2">
            <a:extLst>
              <a:ext uri="{FF2B5EF4-FFF2-40B4-BE49-F238E27FC236}">
                <a16:creationId xmlns:a16="http://schemas.microsoft.com/office/drawing/2014/main" id="{6677112B-7682-18AB-145F-D5DCBB875296}"/>
              </a:ext>
            </a:extLst>
          </p:cNvPr>
          <p:cNvSpPr>
            <a:spLocks noGrp="1"/>
          </p:cNvSpPr>
          <p:nvPr>
            <p:ph idx="1"/>
          </p:nvPr>
        </p:nvSpPr>
        <p:spPr/>
        <p:txBody>
          <a:bodyPr/>
          <a:lstStyle/>
          <a:p>
            <a:pPr marL="0" indent="0">
              <a:buNone/>
            </a:pPr>
            <a:r>
              <a:rPr lang="en-US" dirty="0"/>
              <a:t>Why is public speaking so frightening for many?</a:t>
            </a:r>
          </a:p>
          <a:p>
            <a:pPr marL="0" indent="0">
              <a:buNone/>
            </a:pPr>
            <a:endParaRPr lang="en-US" dirty="0">
              <a:solidFill>
                <a:schemeClr val="accent2"/>
              </a:solidFill>
            </a:endParaRPr>
          </a:p>
          <a:p>
            <a:pPr marL="0" indent="0">
              <a:buNone/>
            </a:pPr>
            <a:r>
              <a:rPr lang="en-US" dirty="0">
                <a:solidFill>
                  <a:schemeClr val="accent2"/>
                </a:solidFill>
              </a:rPr>
              <a:t>Please share one possible reason!</a:t>
            </a:r>
            <a:endParaRPr lang="en-US" dirty="0"/>
          </a:p>
        </p:txBody>
      </p:sp>
    </p:spTree>
    <p:extLst>
      <p:ext uri="{BB962C8B-B14F-4D97-AF65-F5344CB8AC3E}">
        <p14:creationId xmlns:p14="http://schemas.microsoft.com/office/powerpoint/2010/main" val="1272347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A7688-01F6-EDCE-B002-04461BAAE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4D610-5E57-6811-B51E-4B8B6F6E12C2}"/>
              </a:ext>
            </a:extLst>
          </p:cNvPr>
          <p:cNvSpPr>
            <a:spLocks noGrp="1"/>
          </p:cNvSpPr>
          <p:nvPr>
            <p:ph type="title"/>
          </p:nvPr>
        </p:nvSpPr>
        <p:spPr/>
        <p:txBody>
          <a:bodyPr/>
          <a:lstStyle/>
          <a:p>
            <a:r>
              <a:rPr lang="en-US" dirty="0"/>
              <a:t>Communication Skills</a:t>
            </a:r>
          </a:p>
        </p:txBody>
      </p:sp>
      <p:sp>
        <p:nvSpPr>
          <p:cNvPr id="3" name="Content Placeholder 2">
            <a:extLst>
              <a:ext uri="{FF2B5EF4-FFF2-40B4-BE49-F238E27FC236}">
                <a16:creationId xmlns:a16="http://schemas.microsoft.com/office/drawing/2014/main" id="{CF169243-9B61-78DF-E20C-FA0A2B9025C7}"/>
              </a:ext>
            </a:extLst>
          </p:cNvPr>
          <p:cNvSpPr>
            <a:spLocks noGrp="1"/>
          </p:cNvSpPr>
          <p:nvPr>
            <p:ph idx="1"/>
          </p:nvPr>
        </p:nvSpPr>
        <p:spPr/>
        <p:txBody>
          <a:bodyPr>
            <a:normAutofit fontScale="92500" lnSpcReduction="10000"/>
          </a:bodyPr>
          <a:lstStyle/>
          <a:p>
            <a:pPr marL="0" indent="0">
              <a:buNone/>
            </a:pPr>
            <a:r>
              <a:rPr lang="en-US" sz="5400" dirty="0"/>
              <a:t>Do you believe that communication skills are important in career success?</a:t>
            </a:r>
          </a:p>
          <a:p>
            <a:pPr marL="0" indent="0">
              <a:buNone/>
            </a:pPr>
            <a:endParaRPr lang="en-US" dirty="0"/>
          </a:p>
          <a:p>
            <a:pPr marL="0" indent="0" algn="ctr">
              <a:buNone/>
            </a:pPr>
            <a:r>
              <a:rPr lang="en-US" dirty="0">
                <a:solidFill>
                  <a:schemeClr val="accent1"/>
                </a:solidFill>
              </a:rPr>
              <a:t>No</a:t>
            </a:r>
          </a:p>
          <a:p>
            <a:pPr marL="0" indent="0" algn="ctr">
              <a:buNone/>
            </a:pPr>
            <a:r>
              <a:rPr lang="en-US" dirty="0">
                <a:solidFill>
                  <a:schemeClr val="accent1"/>
                </a:solidFill>
              </a:rPr>
              <a:t>Maybe</a:t>
            </a:r>
          </a:p>
          <a:p>
            <a:pPr marL="0" indent="0" algn="ctr">
              <a:buNone/>
            </a:pPr>
            <a:r>
              <a:rPr lang="en-US" dirty="0">
                <a:solidFill>
                  <a:schemeClr val="accent1"/>
                </a:solidFill>
              </a:rPr>
              <a:t>Yes</a:t>
            </a:r>
          </a:p>
          <a:p>
            <a:pPr marL="0" indent="0" algn="ctr">
              <a:buNone/>
            </a:pPr>
            <a:r>
              <a:rPr lang="en-US" dirty="0">
                <a:solidFill>
                  <a:schemeClr val="accent1"/>
                </a:solidFill>
              </a:rPr>
              <a:t>Absolutely Yes</a:t>
            </a:r>
          </a:p>
          <a:p>
            <a:pPr marL="0" indent="0" algn="ctr">
              <a:buNone/>
            </a:pPr>
            <a:endParaRPr lang="en-US" dirty="0"/>
          </a:p>
          <a:p>
            <a:pPr marL="0" indent="0" algn="ctr">
              <a:buNone/>
            </a:pPr>
            <a:r>
              <a:rPr lang="en-US" dirty="0">
                <a:solidFill>
                  <a:schemeClr val="accent2"/>
                </a:solidFill>
              </a:rPr>
              <a:t>Why?</a:t>
            </a:r>
          </a:p>
        </p:txBody>
      </p:sp>
    </p:spTree>
    <p:extLst>
      <p:ext uri="{BB962C8B-B14F-4D97-AF65-F5344CB8AC3E}">
        <p14:creationId xmlns:p14="http://schemas.microsoft.com/office/powerpoint/2010/main" val="106941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0EAAB-D6F0-1284-43AB-093D949047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C8D88-68F6-1A49-5B53-0D493DC1C8B6}"/>
              </a:ext>
            </a:extLst>
          </p:cNvPr>
          <p:cNvSpPr>
            <a:spLocks noGrp="1"/>
          </p:cNvSpPr>
          <p:nvPr>
            <p:ph type="title"/>
          </p:nvPr>
        </p:nvSpPr>
        <p:spPr/>
        <p:txBody>
          <a:bodyPr/>
          <a:lstStyle/>
          <a:p>
            <a:r>
              <a:rPr lang="en-US" dirty="0"/>
              <a:t>Presentation Skills</a:t>
            </a:r>
          </a:p>
        </p:txBody>
      </p:sp>
      <p:sp>
        <p:nvSpPr>
          <p:cNvPr id="3" name="Content Placeholder 2">
            <a:extLst>
              <a:ext uri="{FF2B5EF4-FFF2-40B4-BE49-F238E27FC236}">
                <a16:creationId xmlns:a16="http://schemas.microsoft.com/office/drawing/2014/main" id="{470540AF-578E-AEE0-B3C2-11AFD7C55E8B}"/>
              </a:ext>
            </a:extLst>
          </p:cNvPr>
          <p:cNvSpPr>
            <a:spLocks noGrp="1"/>
          </p:cNvSpPr>
          <p:nvPr>
            <p:ph idx="1"/>
          </p:nvPr>
        </p:nvSpPr>
        <p:spPr/>
        <p:txBody>
          <a:bodyPr>
            <a:normAutofit fontScale="92500" lnSpcReduction="10000"/>
          </a:bodyPr>
          <a:lstStyle/>
          <a:p>
            <a:pPr marL="0" indent="0">
              <a:buNone/>
            </a:pPr>
            <a:r>
              <a:rPr lang="en-US" dirty="0"/>
              <a:t>Do you believe that presentation skills are important in career success?</a:t>
            </a:r>
          </a:p>
          <a:p>
            <a:pPr marL="0" indent="0">
              <a:buNone/>
            </a:pPr>
            <a:endParaRPr lang="en-US" dirty="0"/>
          </a:p>
          <a:p>
            <a:pPr marL="0" indent="0" algn="ctr">
              <a:buNone/>
            </a:pPr>
            <a:r>
              <a:rPr lang="en-US" dirty="0">
                <a:solidFill>
                  <a:schemeClr val="accent1"/>
                </a:solidFill>
              </a:rPr>
              <a:t>No</a:t>
            </a:r>
          </a:p>
          <a:p>
            <a:pPr marL="0" indent="0" algn="ctr">
              <a:buNone/>
            </a:pPr>
            <a:r>
              <a:rPr lang="en-US" dirty="0">
                <a:solidFill>
                  <a:schemeClr val="accent1"/>
                </a:solidFill>
              </a:rPr>
              <a:t>Maybe</a:t>
            </a:r>
          </a:p>
          <a:p>
            <a:pPr marL="0" indent="0" algn="ctr">
              <a:buNone/>
            </a:pPr>
            <a:r>
              <a:rPr lang="en-US" dirty="0">
                <a:solidFill>
                  <a:schemeClr val="accent1"/>
                </a:solidFill>
              </a:rPr>
              <a:t>Yes</a:t>
            </a:r>
          </a:p>
          <a:p>
            <a:pPr marL="0" indent="0" algn="ctr">
              <a:buNone/>
            </a:pPr>
            <a:r>
              <a:rPr lang="en-US" dirty="0">
                <a:solidFill>
                  <a:schemeClr val="accent1"/>
                </a:solidFill>
              </a:rPr>
              <a:t>Absolutely Yes</a:t>
            </a:r>
          </a:p>
          <a:p>
            <a:pPr marL="0" indent="0" algn="ctr">
              <a:buNone/>
            </a:pPr>
            <a:endParaRPr lang="en-US" dirty="0"/>
          </a:p>
          <a:p>
            <a:pPr marL="0" indent="0" algn="ctr">
              <a:buNone/>
            </a:pPr>
            <a:r>
              <a:rPr lang="en-US" dirty="0">
                <a:solidFill>
                  <a:schemeClr val="accent2"/>
                </a:solidFill>
              </a:rPr>
              <a:t>Why?</a:t>
            </a:r>
          </a:p>
        </p:txBody>
      </p:sp>
    </p:spTree>
    <p:extLst>
      <p:ext uri="{BB962C8B-B14F-4D97-AF65-F5344CB8AC3E}">
        <p14:creationId xmlns:p14="http://schemas.microsoft.com/office/powerpoint/2010/main" val="356212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942C-93C0-EAA2-E15E-37CC85F4C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47209-5411-113F-DFD3-1F43048211DB}"/>
              </a:ext>
            </a:extLst>
          </p:cNvPr>
          <p:cNvSpPr>
            <a:spLocks noGrp="1"/>
          </p:cNvSpPr>
          <p:nvPr>
            <p:ph type="title"/>
          </p:nvPr>
        </p:nvSpPr>
        <p:spPr/>
        <p:txBody>
          <a:bodyPr/>
          <a:lstStyle/>
          <a:p>
            <a:r>
              <a:rPr lang="en-US" dirty="0"/>
              <a:t>Working With Others</a:t>
            </a:r>
          </a:p>
        </p:txBody>
      </p:sp>
      <p:sp>
        <p:nvSpPr>
          <p:cNvPr id="3" name="Content Placeholder 2">
            <a:extLst>
              <a:ext uri="{FF2B5EF4-FFF2-40B4-BE49-F238E27FC236}">
                <a16:creationId xmlns:a16="http://schemas.microsoft.com/office/drawing/2014/main" id="{DA6AC90F-B349-924F-C0BE-E067EB0E5362}"/>
              </a:ext>
            </a:extLst>
          </p:cNvPr>
          <p:cNvSpPr>
            <a:spLocks noGrp="1"/>
          </p:cNvSpPr>
          <p:nvPr>
            <p:ph idx="1"/>
          </p:nvPr>
        </p:nvSpPr>
        <p:spPr/>
        <p:txBody>
          <a:bodyPr>
            <a:normAutofit/>
          </a:bodyPr>
          <a:lstStyle/>
          <a:p>
            <a:pPr marL="0" indent="0">
              <a:buNone/>
            </a:pPr>
            <a:r>
              <a:rPr lang="en-US" dirty="0"/>
              <a:t>How about the ability to work with others?</a:t>
            </a:r>
          </a:p>
          <a:p>
            <a:pPr marL="0" indent="0">
              <a:buNone/>
            </a:pPr>
            <a:endParaRPr lang="en-US" dirty="0">
              <a:solidFill>
                <a:schemeClr val="accent2"/>
              </a:solidFill>
            </a:endParaRPr>
          </a:p>
          <a:p>
            <a:pPr marL="0" indent="0">
              <a:buNone/>
            </a:pPr>
            <a:r>
              <a:rPr lang="en-US" dirty="0"/>
              <a:t>Is that a valuable skill in most workplaces?</a:t>
            </a:r>
          </a:p>
          <a:p>
            <a:pPr marL="0" indent="0">
              <a:buNone/>
            </a:pPr>
            <a:endParaRPr lang="en-US" dirty="0">
              <a:solidFill>
                <a:schemeClr val="accent2"/>
              </a:solidFill>
            </a:endParaRPr>
          </a:p>
          <a:p>
            <a:pPr marL="0" indent="0">
              <a:buNone/>
            </a:pPr>
            <a:r>
              <a:rPr lang="en-US" dirty="0">
                <a:solidFill>
                  <a:schemeClr val="accent2"/>
                </a:solidFill>
              </a:rPr>
              <a:t>Are you sure?</a:t>
            </a:r>
          </a:p>
        </p:txBody>
      </p:sp>
    </p:spTree>
    <p:extLst>
      <p:ext uri="{BB962C8B-B14F-4D97-AF65-F5344CB8AC3E}">
        <p14:creationId xmlns:p14="http://schemas.microsoft.com/office/powerpoint/2010/main" val="1346547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76870-CB0A-A8DC-A888-D432F47C7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ED47B-9900-B131-1545-D3FC5E70CC0F}"/>
              </a:ext>
            </a:extLst>
          </p:cNvPr>
          <p:cNvSpPr>
            <a:spLocks noGrp="1"/>
          </p:cNvSpPr>
          <p:nvPr>
            <p:ph type="title"/>
          </p:nvPr>
        </p:nvSpPr>
        <p:spPr/>
        <p:txBody>
          <a:bodyPr/>
          <a:lstStyle/>
          <a:p>
            <a:r>
              <a:rPr lang="en-US" dirty="0"/>
              <a:t>Inclusivity</a:t>
            </a:r>
          </a:p>
        </p:txBody>
      </p:sp>
      <p:sp>
        <p:nvSpPr>
          <p:cNvPr id="3" name="Content Placeholder 2">
            <a:extLst>
              <a:ext uri="{FF2B5EF4-FFF2-40B4-BE49-F238E27FC236}">
                <a16:creationId xmlns:a16="http://schemas.microsoft.com/office/drawing/2014/main" id="{ABEF43A9-41E0-9697-0E37-E882460F84FA}"/>
              </a:ext>
            </a:extLst>
          </p:cNvPr>
          <p:cNvSpPr>
            <a:spLocks noGrp="1"/>
          </p:cNvSpPr>
          <p:nvPr>
            <p:ph idx="1"/>
          </p:nvPr>
        </p:nvSpPr>
        <p:spPr/>
        <p:txBody>
          <a:bodyPr>
            <a:normAutofit/>
          </a:bodyPr>
          <a:lstStyle/>
          <a:p>
            <a:pPr marL="0" indent="0">
              <a:buNone/>
            </a:pPr>
            <a:r>
              <a:rPr lang="en-US" dirty="0"/>
              <a:t>Do you believe that when communicating with others, we must be inclusive in our tone and style?</a:t>
            </a:r>
          </a:p>
          <a:p>
            <a:pPr marL="0" indent="0">
              <a:buNone/>
            </a:pPr>
            <a:endParaRPr lang="en-US" dirty="0">
              <a:solidFill>
                <a:schemeClr val="accent2"/>
              </a:solidFill>
            </a:endParaRPr>
          </a:p>
          <a:p>
            <a:pPr marL="0" indent="0">
              <a:buNone/>
            </a:pPr>
            <a:r>
              <a:rPr lang="en-US" dirty="0">
                <a:solidFill>
                  <a:schemeClr val="accent2"/>
                </a:solidFill>
              </a:rPr>
              <a:t>Please give an example of a situation that involves inclusivity.</a:t>
            </a:r>
          </a:p>
        </p:txBody>
      </p:sp>
    </p:spTree>
    <p:extLst>
      <p:ext uri="{BB962C8B-B14F-4D97-AF65-F5344CB8AC3E}">
        <p14:creationId xmlns:p14="http://schemas.microsoft.com/office/powerpoint/2010/main" val="2903919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E7DD5-00D2-8F6E-0989-78F8B3571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0976D-4C91-D79C-4B7B-DFFE9149A6D9}"/>
              </a:ext>
            </a:extLst>
          </p:cNvPr>
          <p:cNvSpPr>
            <a:spLocks noGrp="1"/>
          </p:cNvSpPr>
          <p:nvPr>
            <p:ph type="title"/>
          </p:nvPr>
        </p:nvSpPr>
        <p:spPr/>
        <p:txBody>
          <a:bodyPr/>
          <a:lstStyle/>
          <a:p>
            <a:r>
              <a:rPr lang="en-US" dirty="0"/>
              <a:t>Interpersonal Interaction</a:t>
            </a:r>
          </a:p>
        </p:txBody>
      </p:sp>
      <p:sp>
        <p:nvSpPr>
          <p:cNvPr id="3" name="Content Placeholder 2">
            <a:extLst>
              <a:ext uri="{FF2B5EF4-FFF2-40B4-BE49-F238E27FC236}">
                <a16:creationId xmlns:a16="http://schemas.microsoft.com/office/drawing/2014/main" id="{78B6083F-B190-FCA7-DE84-647E0293A8DB}"/>
              </a:ext>
            </a:extLst>
          </p:cNvPr>
          <p:cNvSpPr>
            <a:spLocks noGrp="1"/>
          </p:cNvSpPr>
          <p:nvPr>
            <p:ph idx="1"/>
          </p:nvPr>
        </p:nvSpPr>
        <p:spPr/>
        <p:txBody>
          <a:bodyPr>
            <a:normAutofit/>
          </a:bodyPr>
          <a:lstStyle/>
          <a:p>
            <a:pPr marL="0" indent="0">
              <a:buNone/>
            </a:pPr>
            <a:r>
              <a:rPr lang="en-US" dirty="0"/>
              <a:t>Do you believe that </a:t>
            </a:r>
            <a:r>
              <a:rPr lang="en-US" dirty="0">
                <a:solidFill>
                  <a:schemeClr val="accent2"/>
                </a:solidFill>
              </a:rPr>
              <a:t>good interpersonal interaction </a:t>
            </a:r>
            <a:r>
              <a:rPr lang="en-US" dirty="0"/>
              <a:t>with others can facilitate communication?</a:t>
            </a:r>
            <a:endParaRPr lang="en-US" dirty="0">
              <a:solidFill>
                <a:schemeClr val="accent2"/>
              </a:solidFill>
            </a:endParaRPr>
          </a:p>
        </p:txBody>
      </p:sp>
    </p:spTree>
    <p:extLst>
      <p:ext uri="{BB962C8B-B14F-4D97-AF65-F5344CB8AC3E}">
        <p14:creationId xmlns:p14="http://schemas.microsoft.com/office/powerpoint/2010/main" val="115976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07BB9-4FA7-78D2-B3DE-336884613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C9C36-B1E0-BA7E-4A1C-44D475FB2AD9}"/>
              </a:ext>
            </a:extLst>
          </p:cNvPr>
          <p:cNvSpPr>
            <a:spLocks noGrp="1"/>
          </p:cNvSpPr>
          <p:nvPr>
            <p:ph type="title"/>
          </p:nvPr>
        </p:nvSpPr>
        <p:spPr/>
        <p:txBody>
          <a:bodyPr/>
          <a:lstStyle/>
          <a:p>
            <a:r>
              <a:rPr lang="en-US" dirty="0"/>
              <a:t>Beliefs</a:t>
            </a:r>
          </a:p>
        </p:txBody>
      </p:sp>
      <p:sp>
        <p:nvSpPr>
          <p:cNvPr id="3" name="Content Placeholder 2">
            <a:extLst>
              <a:ext uri="{FF2B5EF4-FFF2-40B4-BE49-F238E27FC236}">
                <a16:creationId xmlns:a16="http://schemas.microsoft.com/office/drawing/2014/main" id="{65070555-DD91-8F42-13CE-40660B7FD3FB}"/>
              </a:ext>
            </a:extLst>
          </p:cNvPr>
          <p:cNvSpPr>
            <a:spLocks noGrp="1"/>
          </p:cNvSpPr>
          <p:nvPr>
            <p:ph idx="1"/>
          </p:nvPr>
        </p:nvSpPr>
        <p:spPr/>
        <p:txBody>
          <a:bodyPr>
            <a:normAutofit/>
          </a:bodyPr>
          <a:lstStyle/>
          <a:p>
            <a:pPr marL="0" indent="0">
              <a:buNone/>
            </a:pPr>
            <a:r>
              <a:rPr lang="en-US" dirty="0"/>
              <a:t>Do you agree that not all people have the same </a:t>
            </a:r>
            <a:r>
              <a:rPr lang="en-US" dirty="0">
                <a:solidFill>
                  <a:schemeClr val="accent2"/>
                </a:solidFill>
              </a:rPr>
              <a:t>views or beliefs</a:t>
            </a:r>
            <a:r>
              <a:rPr lang="en-US" dirty="0"/>
              <a:t>?</a:t>
            </a:r>
          </a:p>
          <a:p>
            <a:pPr marL="0" indent="0">
              <a:buNone/>
            </a:pPr>
            <a:endParaRPr lang="en-US" dirty="0">
              <a:solidFill>
                <a:schemeClr val="accent2"/>
              </a:solidFill>
            </a:endParaRPr>
          </a:p>
          <a:p>
            <a:pPr marL="0" indent="0">
              <a:buNone/>
            </a:pPr>
            <a:r>
              <a:rPr lang="en-US" dirty="0"/>
              <a:t>Do you agree that we must be </a:t>
            </a:r>
            <a:r>
              <a:rPr lang="en-US" dirty="0">
                <a:solidFill>
                  <a:schemeClr val="accent2"/>
                </a:solidFill>
              </a:rPr>
              <a:t>sensitive</a:t>
            </a:r>
            <a:r>
              <a:rPr lang="en-US" dirty="0"/>
              <a:t> to these differing views/beliefs in the workplace?</a:t>
            </a:r>
          </a:p>
        </p:txBody>
      </p:sp>
    </p:spTree>
    <p:extLst>
      <p:ext uri="{BB962C8B-B14F-4D97-AF65-F5344CB8AC3E}">
        <p14:creationId xmlns:p14="http://schemas.microsoft.com/office/powerpoint/2010/main" val="1764531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9CC37-32E1-0694-D45B-3C9603F46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4D4EC-02A2-8E71-973D-E5230C6D1CDA}"/>
              </a:ext>
            </a:extLst>
          </p:cNvPr>
          <p:cNvSpPr>
            <a:spLocks noGrp="1"/>
          </p:cNvSpPr>
          <p:nvPr>
            <p:ph type="title"/>
          </p:nvPr>
        </p:nvSpPr>
        <p:spPr/>
        <p:txBody>
          <a:bodyPr/>
          <a:lstStyle/>
          <a:p>
            <a:r>
              <a:rPr lang="en-US" dirty="0"/>
              <a:t>Interpersonal Relationships</a:t>
            </a:r>
          </a:p>
        </p:txBody>
      </p:sp>
      <p:sp>
        <p:nvSpPr>
          <p:cNvPr id="3" name="Content Placeholder 2">
            <a:extLst>
              <a:ext uri="{FF2B5EF4-FFF2-40B4-BE49-F238E27FC236}">
                <a16:creationId xmlns:a16="http://schemas.microsoft.com/office/drawing/2014/main" id="{01653DE6-8D20-E31F-1EB7-3A9F76A99847}"/>
              </a:ext>
            </a:extLst>
          </p:cNvPr>
          <p:cNvSpPr>
            <a:spLocks noGrp="1"/>
          </p:cNvSpPr>
          <p:nvPr>
            <p:ph idx="1"/>
          </p:nvPr>
        </p:nvSpPr>
        <p:spPr/>
        <p:txBody>
          <a:bodyPr>
            <a:normAutofit/>
          </a:bodyPr>
          <a:lstStyle/>
          <a:p>
            <a:pPr marL="0" indent="0">
              <a:buNone/>
            </a:pPr>
            <a:r>
              <a:rPr lang="en-US" dirty="0"/>
              <a:t>Do you agree that having </a:t>
            </a:r>
            <a:r>
              <a:rPr lang="en-US" dirty="0">
                <a:solidFill>
                  <a:schemeClr val="accent2"/>
                </a:solidFill>
              </a:rPr>
              <a:t>good interpersonal relationships </a:t>
            </a:r>
            <a:r>
              <a:rPr lang="en-US" dirty="0"/>
              <a:t>with colleagues is important?</a:t>
            </a:r>
          </a:p>
        </p:txBody>
      </p:sp>
    </p:spTree>
    <p:extLst>
      <p:ext uri="{BB962C8B-B14F-4D97-AF65-F5344CB8AC3E}">
        <p14:creationId xmlns:p14="http://schemas.microsoft.com/office/powerpoint/2010/main" val="3362634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DEEB6-F223-1498-7E22-37EFC49DB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E684F-66F1-D30D-FAC6-33C869315012}"/>
              </a:ext>
            </a:extLst>
          </p:cNvPr>
          <p:cNvSpPr>
            <a:spLocks noGrp="1"/>
          </p:cNvSpPr>
          <p:nvPr>
            <p:ph type="title"/>
          </p:nvPr>
        </p:nvSpPr>
        <p:spPr/>
        <p:txBody>
          <a:bodyPr/>
          <a:lstStyle/>
          <a:p>
            <a:r>
              <a:rPr lang="en-US" dirty="0"/>
              <a:t>Preferences/Style</a:t>
            </a:r>
          </a:p>
        </p:txBody>
      </p:sp>
      <p:sp>
        <p:nvSpPr>
          <p:cNvPr id="3" name="Content Placeholder 2">
            <a:extLst>
              <a:ext uri="{FF2B5EF4-FFF2-40B4-BE49-F238E27FC236}">
                <a16:creationId xmlns:a16="http://schemas.microsoft.com/office/drawing/2014/main" id="{BD674293-FA51-CBC1-876B-46772EE9C662}"/>
              </a:ext>
            </a:extLst>
          </p:cNvPr>
          <p:cNvSpPr>
            <a:spLocks noGrp="1"/>
          </p:cNvSpPr>
          <p:nvPr>
            <p:ph idx="1"/>
          </p:nvPr>
        </p:nvSpPr>
        <p:spPr/>
        <p:txBody>
          <a:bodyPr>
            <a:normAutofit/>
          </a:bodyPr>
          <a:lstStyle/>
          <a:p>
            <a:pPr marL="0" indent="0">
              <a:buNone/>
            </a:pPr>
            <a:r>
              <a:rPr lang="en-US" dirty="0">
                <a:solidFill>
                  <a:schemeClr val="tx1"/>
                </a:solidFill>
              </a:rPr>
              <a:t>Do you agree that not everyone has </a:t>
            </a:r>
            <a:r>
              <a:rPr lang="en-US" dirty="0">
                <a:solidFill>
                  <a:schemeClr val="accent2"/>
                </a:solidFill>
              </a:rPr>
              <a:t>the same preferences or style </a:t>
            </a:r>
            <a:r>
              <a:rPr lang="en-US" dirty="0">
                <a:solidFill>
                  <a:schemeClr val="tx1"/>
                </a:solidFill>
              </a:rPr>
              <a:t>(how they work, communicate or relate to others)? </a:t>
            </a:r>
            <a:endParaRPr lang="en-US" dirty="0"/>
          </a:p>
        </p:txBody>
      </p:sp>
    </p:spTree>
    <p:extLst>
      <p:ext uri="{BB962C8B-B14F-4D97-AF65-F5344CB8AC3E}">
        <p14:creationId xmlns:p14="http://schemas.microsoft.com/office/powerpoint/2010/main" val="184212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66C80-A1F5-51A0-BCA1-1D794000C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DB476-8B6D-A697-6818-F3CA502EB1C5}"/>
              </a:ext>
            </a:extLst>
          </p:cNvPr>
          <p:cNvSpPr>
            <a:spLocks noGrp="1"/>
          </p:cNvSpPr>
          <p:nvPr>
            <p:ph type="title"/>
          </p:nvPr>
        </p:nvSpPr>
        <p:spPr/>
        <p:txBody>
          <a:bodyPr/>
          <a:lstStyle/>
          <a:p>
            <a:r>
              <a:rPr lang="en-US" dirty="0"/>
              <a:t>Tone</a:t>
            </a:r>
          </a:p>
        </p:txBody>
      </p:sp>
      <p:sp>
        <p:nvSpPr>
          <p:cNvPr id="3" name="Content Placeholder 2">
            <a:extLst>
              <a:ext uri="{FF2B5EF4-FFF2-40B4-BE49-F238E27FC236}">
                <a16:creationId xmlns:a16="http://schemas.microsoft.com/office/drawing/2014/main" id="{8F1CEB5C-8BDC-4C93-02E5-3C65C10396C4}"/>
              </a:ext>
            </a:extLst>
          </p:cNvPr>
          <p:cNvSpPr>
            <a:spLocks noGrp="1"/>
          </p:cNvSpPr>
          <p:nvPr>
            <p:ph idx="1"/>
          </p:nvPr>
        </p:nvSpPr>
        <p:spPr/>
        <p:txBody>
          <a:bodyPr>
            <a:normAutofit/>
          </a:bodyPr>
          <a:lstStyle/>
          <a:p>
            <a:pPr marL="0" indent="0">
              <a:buNone/>
            </a:pPr>
            <a:r>
              <a:rPr lang="en-US" dirty="0">
                <a:solidFill>
                  <a:schemeClr val="tx1"/>
                </a:solidFill>
              </a:rPr>
              <a:t>Do you agree that an effective communicator will </a:t>
            </a:r>
            <a:r>
              <a:rPr lang="en-US" dirty="0">
                <a:solidFill>
                  <a:schemeClr val="accent2"/>
                </a:solidFill>
              </a:rPr>
              <a:t>adjust the tone and style </a:t>
            </a:r>
            <a:r>
              <a:rPr lang="en-US" dirty="0">
                <a:solidFill>
                  <a:schemeClr val="tx1"/>
                </a:solidFill>
              </a:rPr>
              <a:t>of communication depending on the situation?</a:t>
            </a:r>
            <a:endParaRPr lang="en-US" dirty="0"/>
          </a:p>
        </p:txBody>
      </p:sp>
    </p:spTree>
    <p:extLst>
      <p:ext uri="{BB962C8B-B14F-4D97-AF65-F5344CB8AC3E}">
        <p14:creationId xmlns:p14="http://schemas.microsoft.com/office/powerpoint/2010/main" val="2483280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7A184-10BA-C69D-024E-A160E8203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14CA7-49F6-A325-BD5A-7269CF78881E}"/>
              </a:ext>
            </a:extLst>
          </p:cNvPr>
          <p:cNvSpPr>
            <a:spLocks noGrp="1"/>
          </p:cNvSpPr>
          <p:nvPr>
            <p:ph type="title"/>
          </p:nvPr>
        </p:nvSpPr>
        <p:spPr/>
        <p:txBody>
          <a:bodyPr/>
          <a:lstStyle/>
          <a:p>
            <a:r>
              <a:rPr lang="en-US" dirty="0"/>
              <a:t>Teaching &amp; Tone</a:t>
            </a:r>
          </a:p>
        </p:txBody>
      </p:sp>
      <p:sp>
        <p:nvSpPr>
          <p:cNvPr id="3" name="Content Placeholder 2">
            <a:extLst>
              <a:ext uri="{FF2B5EF4-FFF2-40B4-BE49-F238E27FC236}">
                <a16:creationId xmlns:a16="http://schemas.microsoft.com/office/drawing/2014/main" id="{6A4E22C9-08A0-747C-1CCA-95B7A4405DB4}"/>
              </a:ext>
            </a:extLst>
          </p:cNvPr>
          <p:cNvSpPr>
            <a:spLocks noGrp="1"/>
          </p:cNvSpPr>
          <p:nvPr>
            <p:ph idx="1"/>
          </p:nvPr>
        </p:nvSpPr>
        <p:spPr/>
        <p:txBody>
          <a:bodyPr>
            <a:normAutofit/>
          </a:bodyPr>
          <a:lstStyle/>
          <a:p>
            <a:pPr marL="0" indent="0">
              <a:buNone/>
            </a:pPr>
            <a:r>
              <a:rPr lang="en-US" dirty="0">
                <a:solidFill>
                  <a:schemeClr val="tx1"/>
                </a:solidFill>
              </a:rPr>
              <a:t>Should a teacher have to adjust their tone according to </a:t>
            </a:r>
            <a:r>
              <a:rPr lang="en-US" dirty="0">
                <a:solidFill>
                  <a:schemeClr val="accent2"/>
                </a:solidFill>
              </a:rPr>
              <a:t>the level of their students and their specific needs</a:t>
            </a:r>
            <a:r>
              <a:rPr lang="en-US" dirty="0">
                <a:solidFill>
                  <a:schemeClr val="tx1"/>
                </a:solidFill>
              </a:rPr>
              <a:t>?</a:t>
            </a:r>
          </a:p>
          <a:p>
            <a:pPr marL="0" indent="0">
              <a:buNone/>
            </a:pPr>
            <a:endParaRPr lang="en-US" dirty="0"/>
          </a:p>
          <a:p>
            <a:pPr marL="0" indent="0">
              <a:buNone/>
            </a:pPr>
            <a:r>
              <a:rPr lang="en-US" dirty="0"/>
              <a:t>Can a teacher be great </a:t>
            </a:r>
            <a:r>
              <a:rPr lang="en-US" dirty="0">
                <a:solidFill>
                  <a:schemeClr val="accent2"/>
                </a:solidFill>
              </a:rPr>
              <a:t>without being a great communicator</a:t>
            </a:r>
            <a:r>
              <a:rPr lang="en-US" dirty="0"/>
              <a:t>?</a:t>
            </a:r>
          </a:p>
          <a:p>
            <a:pPr marL="0" indent="0">
              <a:buNone/>
            </a:pPr>
            <a:endParaRPr lang="en-US" dirty="0"/>
          </a:p>
          <a:p>
            <a:pPr marL="0" indent="0">
              <a:buNone/>
            </a:pPr>
            <a:r>
              <a:rPr lang="en-US" dirty="0">
                <a:solidFill>
                  <a:schemeClr val="tx1"/>
                </a:solidFill>
              </a:rPr>
              <a:t>Can students learn from a teacher they </a:t>
            </a:r>
            <a:r>
              <a:rPr lang="en-US" dirty="0">
                <a:solidFill>
                  <a:schemeClr val="accent2"/>
                </a:solidFill>
              </a:rPr>
              <a:t>don’t like, respect or trust?</a:t>
            </a:r>
          </a:p>
        </p:txBody>
      </p:sp>
    </p:spTree>
    <p:extLst>
      <p:ext uri="{BB962C8B-B14F-4D97-AF65-F5344CB8AC3E}">
        <p14:creationId xmlns:p14="http://schemas.microsoft.com/office/powerpoint/2010/main" val="210023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F784-8F94-C664-E97E-400701F08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DF7FE-9E09-261B-7CB4-0BF901042C95}"/>
              </a:ext>
            </a:extLst>
          </p:cNvPr>
          <p:cNvSpPr>
            <a:spLocks noGrp="1"/>
          </p:cNvSpPr>
          <p:nvPr>
            <p:ph type="title"/>
          </p:nvPr>
        </p:nvSpPr>
        <p:spPr/>
        <p:txBody>
          <a:bodyPr/>
          <a:lstStyle/>
          <a:p>
            <a:r>
              <a:rPr lang="en-US" dirty="0"/>
              <a:t>Why So Many Questions?</a:t>
            </a:r>
          </a:p>
        </p:txBody>
      </p:sp>
      <p:sp>
        <p:nvSpPr>
          <p:cNvPr id="3" name="Content Placeholder 2">
            <a:extLst>
              <a:ext uri="{FF2B5EF4-FFF2-40B4-BE49-F238E27FC236}">
                <a16:creationId xmlns:a16="http://schemas.microsoft.com/office/drawing/2014/main" id="{74FED82C-4E82-39EB-E144-0B3F8B4A7B16}"/>
              </a:ext>
            </a:extLst>
          </p:cNvPr>
          <p:cNvSpPr>
            <a:spLocks noGrp="1"/>
          </p:cNvSpPr>
          <p:nvPr>
            <p:ph idx="1"/>
          </p:nvPr>
        </p:nvSpPr>
        <p:spPr/>
        <p:txBody>
          <a:bodyPr>
            <a:normAutofit/>
          </a:bodyPr>
          <a:lstStyle/>
          <a:p>
            <a:pPr marL="0" indent="0">
              <a:buNone/>
            </a:pPr>
            <a:r>
              <a:rPr lang="en-US" dirty="0">
                <a:solidFill>
                  <a:schemeClr val="tx1"/>
                </a:solidFill>
              </a:rPr>
              <a:t>What do you think is the </a:t>
            </a:r>
            <a:r>
              <a:rPr lang="en-US" dirty="0">
                <a:solidFill>
                  <a:schemeClr val="accent2"/>
                </a:solidFill>
              </a:rPr>
              <a:t>real reason that </a:t>
            </a:r>
            <a:r>
              <a:rPr lang="en-US" dirty="0">
                <a:solidFill>
                  <a:schemeClr val="tx1"/>
                </a:solidFill>
              </a:rPr>
              <a:t>I am probing you with so many questions on day one?</a:t>
            </a:r>
            <a:endParaRPr lang="en-US" dirty="0">
              <a:solidFill>
                <a:schemeClr val="accent2"/>
              </a:solidFill>
            </a:endParaRPr>
          </a:p>
        </p:txBody>
      </p:sp>
    </p:spTree>
    <p:extLst>
      <p:ext uri="{BB962C8B-B14F-4D97-AF65-F5344CB8AC3E}">
        <p14:creationId xmlns:p14="http://schemas.microsoft.com/office/powerpoint/2010/main" val="3867687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6B2F5-03B3-0D7B-F81B-7ABC2BEDE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8D261-861D-92C7-C72C-4F02E8E31F29}"/>
              </a:ext>
            </a:extLst>
          </p:cNvPr>
          <p:cNvSpPr>
            <a:spLocks noGrp="1"/>
          </p:cNvSpPr>
          <p:nvPr>
            <p:ph type="title"/>
          </p:nvPr>
        </p:nvSpPr>
        <p:spPr/>
        <p:txBody>
          <a:bodyPr/>
          <a:lstStyle/>
          <a:p>
            <a:r>
              <a:rPr lang="en-US" dirty="0"/>
              <a:t>Teacher/Student Interactions</a:t>
            </a:r>
          </a:p>
        </p:txBody>
      </p:sp>
      <p:sp>
        <p:nvSpPr>
          <p:cNvPr id="3" name="Content Placeholder 2">
            <a:extLst>
              <a:ext uri="{FF2B5EF4-FFF2-40B4-BE49-F238E27FC236}">
                <a16:creationId xmlns:a16="http://schemas.microsoft.com/office/drawing/2014/main" id="{226BC4CD-BA95-84D4-6337-D96BA89EF1C2}"/>
              </a:ext>
            </a:extLst>
          </p:cNvPr>
          <p:cNvSpPr>
            <a:spLocks noGrp="1"/>
          </p:cNvSpPr>
          <p:nvPr>
            <p:ph idx="1"/>
          </p:nvPr>
        </p:nvSpPr>
        <p:spPr/>
        <p:txBody>
          <a:bodyPr>
            <a:normAutofit/>
          </a:bodyPr>
          <a:lstStyle/>
          <a:p>
            <a:r>
              <a:rPr lang="en-US" dirty="0"/>
              <a:t>This course is an </a:t>
            </a:r>
            <a:r>
              <a:rPr lang="en-US" dirty="0">
                <a:solidFill>
                  <a:schemeClr val="accent2"/>
                </a:solidFill>
              </a:rPr>
              <a:t>organization</a:t>
            </a:r>
          </a:p>
          <a:p>
            <a:r>
              <a:rPr lang="en-US" dirty="0"/>
              <a:t>Structure, participants, assumed leader</a:t>
            </a:r>
          </a:p>
          <a:p>
            <a:r>
              <a:rPr lang="en-US" dirty="0"/>
              <a:t>Fairness &amp; equitability</a:t>
            </a:r>
          </a:p>
        </p:txBody>
      </p:sp>
    </p:spTree>
    <p:extLst>
      <p:ext uri="{BB962C8B-B14F-4D97-AF65-F5344CB8AC3E}">
        <p14:creationId xmlns:p14="http://schemas.microsoft.com/office/powerpoint/2010/main" val="1956328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C37BF-2281-F48E-D6C7-89B0D7949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3A709-8277-ACD8-C266-5F492883FB4D}"/>
              </a:ext>
            </a:extLst>
          </p:cNvPr>
          <p:cNvSpPr>
            <a:spLocks noGrp="1"/>
          </p:cNvSpPr>
          <p:nvPr>
            <p:ph type="title"/>
          </p:nvPr>
        </p:nvSpPr>
        <p:spPr/>
        <p:txBody>
          <a:bodyPr/>
          <a:lstStyle/>
          <a:p>
            <a:r>
              <a:rPr lang="en-US" dirty="0"/>
              <a:t>What’s Coming Up</a:t>
            </a:r>
          </a:p>
        </p:txBody>
      </p:sp>
      <p:sp>
        <p:nvSpPr>
          <p:cNvPr id="3" name="Content Placeholder 2">
            <a:extLst>
              <a:ext uri="{FF2B5EF4-FFF2-40B4-BE49-F238E27FC236}">
                <a16:creationId xmlns:a16="http://schemas.microsoft.com/office/drawing/2014/main" id="{92E68F02-83C7-AFD9-4E0A-CA04019171B4}"/>
              </a:ext>
            </a:extLst>
          </p:cNvPr>
          <p:cNvSpPr>
            <a:spLocks noGrp="1"/>
          </p:cNvSpPr>
          <p:nvPr>
            <p:ph idx="1"/>
          </p:nvPr>
        </p:nvSpPr>
        <p:spPr/>
        <p:txBody>
          <a:bodyPr>
            <a:normAutofit/>
          </a:bodyPr>
          <a:lstStyle/>
          <a:p>
            <a:r>
              <a:rPr lang="en-US" dirty="0"/>
              <a:t>Course Outline</a:t>
            </a:r>
          </a:p>
          <a:p>
            <a:r>
              <a:rPr lang="en-US" dirty="0"/>
              <a:t>Course Requirements</a:t>
            </a:r>
          </a:p>
          <a:p>
            <a:r>
              <a:rPr lang="en-US" dirty="0"/>
              <a:t>Tentative Planning Calendar</a:t>
            </a:r>
          </a:p>
        </p:txBody>
      </p:sp>
    </p:spTree>
    <p:extLst>
      <p:ext uri="{BB962C8B-B14F-4D97-AF65-F5344CB8AC3E}">
        <p14:creationId xmlns:p14="http://schemas.microsoft.com/office/powerpoint/2010/main" val="2616057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257F2-C55B-F70B-1B21-B5A044CC5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A7242-79CF-BA76-1C19-4C574B819A44}"/>
              </a:ext>
            </a:extLst>
          </p:cNvPr>
          <p:cNvSpPr>
            <a:spLocks noGrp="1"/>
          </p:cNvSpPr>
          <p:nvPr>
            <p:ph type="ctrTitle"/>
          </p:nvPr>
        </p:nvSpPr>
        <p:spPr>
          <a:xfrm>
            <a:off x="1585799" y="4632712"/>
            <a:ext cx="21210814" cy="5050553"/>
          </a:xfrm>
        </p:spPr>
        <p:txBody>
          <a:bodyPr/>
          <a:lstStyle/>
          <a:p>
            <a:r>
              <a:rPr lang="en-US" cap="none" dirty="0"/>
              <a:t>RECAP</a:t>
            </a:r>
            <a:r>
              <a:rPr lang="en-US" b="0" cap="none" dirty="0"/>
              <a:t>: </a:t>
            </a:r>
            <a:br>
              <a:rPr lang="en-US" b="0" cap="none" dirty="0"/>
            </a:br>
            <a:r>
              <a:rPr lang="en-US" b="0" cap="none" dirty="0"/>
              <a:t>Can you recall any of the points that we discussed today? Any point?</a:t>
            </a:r>
            <a:endParaRPr lang="LID4096" dirty="0">
              <a:solidFill>
                <a:schemeClr val="accent1"/>
              </a:solidFill>
            </a:endParaRPr>
          </a:p>
        </p:txBody>
      </p:sp>
    </p:spTree>
    <p:extLst>
      <p:ext uri="{BB962C8B-B14F-4D97-AF65-F5344CB8AC3E}">
        <p14:creationId xmlns:p14="http://schemas.microsoft.com/office/powerpoint/2010/main" val="3834221714"/>
      </p:ext>
    </p:extLst>
  </p:cSld>
  <p:clrMapOvr>
    <a:masterClrMapping/>
  </p:clrMapOvr>
</p:sld>
</file>

<file path=ppt/theme/theme1.xml><?xml version="1.0" encoding="utf-8"?>
<a:theme xmlns:a="http://schemas.openxmlformats.org/drawingml/2006/main" name="Office Theme">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o21d29a7103b4682935c0630413e6f7b xmlns="a1931c98-6bbb-40b1-967f-8cf7447a3553">
      <Terms xmlns="http://schemas.microsoft.com/office/infopath/2007/PartnerControls">
        <TermInfo xmlns="http://schemas.microsoft.com/office/infopath/2007/PartnerControls">
          <TermName xmlns="http://schemas.microsoft.com/office/infopath/2007/PartnerControls">Brand</TermName>
          <TermId xmlns="http://schemas.microsoft.com/office/infopath/2007/PartnerControls">943f07b5-0abf-4eba-9a92-bb911ec4797c</TermId>
        </TermInfo>
      </Terms>
    </o21d29a7103b4682935c0630413e6f7b>
    <d33d8e452192410897555420ed4061b4 xmlns="a1931c98-6bbb-40b1-967f-8cf7447a3553">
      <Terms xmlns="http://schemas.microsoft.com/office/infopath/2007/PartnerControls"/>
    </d33d8e452192410897555420ed4061b4>
    <_dlc_DocId xmlns="a1931c98-6bbb-40b1-967f-8cf7447a3553">4NUSZQ57DJN7-208515216-20168</_dlc_DocId>
    <TaxCatchAll xmlns="52bb52fc-fb4a-47ec-96af-1ca16eda3341">
      <Value>197</Value>
    </TaxCatchAll>
    <lcf2e7135e8e4d83bebbad48a9a2aeb7 xmlns="a1931c98-6bbb-40b1-967f-8cf7447a3553">
      <Terms xmlns="http://schemas.microsoft.com/office/infopath/2007/PartnerControls"/>
    </lcf2e7135e8e4d83bebbad48a9a2aeb7>
    <ne41efdca82d475388752b2c5f2b8261 xmlns="a1931c98-6bbb-40b1-967f-8cf7447a3553">
      <Terms xmlns="http://schemas.microsoft.com/office/infopath/2007/PartnerControls"/>
    </ne41efdca82d475388752b2c5f2b8261>
    <ofc6ecffa18e4c49a0b3f631c800d01e xmlns="a1931c98-6bbb-40b1-967f-8cf7447a3553">
      <Terms xmlns="http://schemas.microsoft.com/office/infopath/2007/PartnerControls"/>
    </ofc6ecffa18e4c49a0b3f631c800d01e>
    <Public xmlns="82b3bded-9174-49ad-922b-f495aa64e0c3">true</Public>
    <l9eb48deb3b346a6907c77c095a5e1d4 xmlns="a1931c98-6bbb-40b1-967f-8cf7447a3553">
      <Terms xmlns="http://schemas.microsoft.com/office/infopath/2007/PartnerControls"/>
    </l9eb48deb3b346a6907c77c095a5e1d4>
    <_dlc_DocIdUrl xmlns="a1931c98-6bbb-40b1-967f-8cf7447a3553">
      <Url>https://naitca.sharepoint.com/sites/pd/_layouts/15/DocIdRedir.aspx?ID=4NUSZQ57DJN7-208515216-20168</Url>
      <Description>4NUSZQ57DJN7-208515216-20168</Description>
    </_dlc_DocIdUrl>
    <nphl xmlns="82b3bded-9174-49ad-922b-f495aa64e0c3" xsi:nil="true"/>
    <Owner_x0020_-_x0020_Person xmlns="a1931c98-6bbb-40b1-967f-8cf7447a3553">
      <UserInfo>
        <DisplayName>Derek Lue</DisplayName>
        <AccountId>51</AccountId>
        <AccountType/>
      </UserInfo>
    </Owner_x0020_-_x0020_Person>
    <KpiDescription xmlns="http://schemas.microsoft.com/sharepoint/v3"/>
    <Next_x0020_Scheduled_x0020_Review_x0020_Date xmlns="a1931c98-6bbb-40b1-967f-8cf7447a3553"/>
    <Notes1 xmlns="a1931c98-6bbb-40b1-967f-8cf7447a3553" xsi:nil="true"/>
    <Publication_x0020_Date xmlns="a1931c98-6bbb-40b1-967f-8cf7447a3553">2020-02-18T07:00:00+00:00</Publication_x0020_Date>
    <o6up xmlns="82b3bded-9174-49ad-922b-f495aa64e0c3" xsi:nil="true"/>
    <Reviewed_x0020_Date xmlns="a1931c98-6bbb-40b1-967f-8cf7447a3553"/>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Published Document" ma:contentTypeID="0x010100C1BA51318E401F48B5D2093CBA079C8800EE7A27C51231A241A789809547D65198" ma:contentTypeVersion="59" ma:contentTypeDescription="" ma:contentTypeScope="" ma:versionID="31cf26cb3dfcb34d4e33ae176ffac8a7">
  <xsd:schema xmlns:xsd="http://www.w3.org/2001/XMLSchema" xmlns:xs="http://www.w3.org/2001/XMLSchema" xmlns:p="http://schemas.microsoft.com/office/2006/metadata/properties" xmlns:ns1="http://schemas.microsoft.com/sharepoint/v3" xmlns:ns2="a1931c98-6bbb-40b1-967f-8cf7447a3553" xmlns:ns4="52bb52fc-fb4a-47ec-96af-1ca16eda3341" xmlns:ns5="82b3bded-9174-49ad-922b-f495aa64e0c3" targetNamespace="http://schemas.microsoft.com/office/2006/metadata/properties" ma:root="true" ma:fieldsID="b8d29b49f22dd0e82206e93f84c80e94" ns1:_="" ns2:_="" ns4:_="" ns5:_="">
    <xsd:import namespace="http://schemas.microsoft.com/sharepoint/v3"/>
    <xsd:import namespace="a1931c98-6bbb-40b1-967f-8cf7447a3553"/>
    <xsd:import namespace="52bb52fc-fb4a-47ec-96af-1ca16eda3341"/>
    <xsd:import namespace="82b3bded-9174-49ad-922b-f495aa64e0c3"/>
    <xsd:element name="properties">
      <xsd:complexType>
        <xsd:sequence>
          <xsd:element name="documentManagement">
            <xsd:complexType>
              <xsd:all>
                <xsd:element ref="ns1:KpiDescription"/>
                <xsd:element ref="ns2:Owner_x0020_-_x0020_Person"/>
                <xsd:element ref="ns2:Publication_x0020_Date"/>
                <xsd:element ref="ns2:Reviewed_x0020_Date"/>
                <xsd:element ref="ns2:Next_x0020_Scheduled_x0020_Review_x0020_Date"/>
                <xsd:element ref="ns2:Notes1" minOccurs="0"/>
                <xsd:element ref="ns4:TaxCatchAllLabel" minOccurs="0"/>
                <xsd:element ref="ns2:_dlc_DocId" minOccurs="0"/>
                <xsd:element ref="ns2:ofc6ecffa18e4c49a0b3f631c800d01e" minOccurs="0"/>
                <xsd:element ref="ns2:d33d8e452192410897555420ed4061b4" minOccurs="0"/>
                <xsd:element ref="ns2:ne41efdca82d475388752b2c5f2b8261" minOccurs="0"/>
                <xsd:element ref="ns2:o21d29a7103b4682935c0630413e6f7b" minOccurs="0"/>
                <xsd:element ref="ns2:lcf2e7135e8e4d83bebbad48a9a2aeb7" minOccurs="0"/>
                <xsd:element ref="ns2:l9eb48deb3b346a6907c77c095a5e1d4" minOccurs="0"/>
                <xsd:element ref="ns2:_dlc_DocIdPersistId" minOccurs="0"/>
                <xsd:element ref="ns2:_dlc_DocIdUrl" minOccurs="0"/>
                <xsd:element ref="ns4:TaxCatchAll" minOccurs="0"/>
                <xsd:element ref="ns5:Public" minOccurs="0"/>
                <xsd:element ref="ns2:LastSharedByUser" minOccurs="0"/>
                <xsd:element ref="ns2:LastSharedByTime" minOccurs="0"/>
                <xsd:element ref="ns5:MediaServiceMetadata" minOccurs="0"/>
                <xsd:element ref="ns5:MediaServiceFastMetadata" minOccurs="0"/>
                <xsd:element ref="ns5:MediaServiceAutoTags" minOccurs="0"/>
                <xsd:element ref="ns5:MediaServiceDateTaken" minOccurs="0"/>
                <xsd:element ref="ns5:nphl" minOccurs="0"/>
                <xsd:element ref="ns5:o6up" minOccurs="0"/>
                <xsd:element ref="ns5:MediaServiceOCR" minOccurs="0"/>
                <xsd:element ref="ns5:MediaServiceLocation" minOccurs="0"/>
                <xsd:element ref="ns5:MediaServiceGenerationTime" minOccurs="0"/>
                <xsd:element ref="ns5:MediaServiceEventHashCode" minOccurs="0"/>
                <xsd:element ref="ns5:MediaServiceAutoKeyPoints" minOccurs="0"/>
                <xsd:element ref="ns5: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KpiDescription" ma:index="2" ma:displayName="Description" ma:description="The description provides information about the purpose of the goal." ma:internalName="KpiDescription"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931c98-6bbb-40b1-967f-8cf7447a3553" elementFormDefault="qualified">
    <xsd:import namespace="http://schemas.microsoft.com/office/2006/documentManagement/types"/>
    <xsd:import namespace="http://schemas.microsoft.com/office/infopath/2007/PartnerControls"/>
    <xsd:element name="Owner_x0020_-_x0020_Person" ma:index="10" ma:displayName="Owner - Person" ma:list="UserInfo" ma:SharePointGroup="0" ma:internalName="Owner_x0020__x002d__x0020_Person"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Publication_x0020_Date" ma:index="11" ma:displayName="Publication Date" ma:format="DateOnly" ma:internalName="Publication_x0020_Date" ma:readOnly="false">
      <xsd:simpleType>
        <xsd:restriction base="dms:DateTime"/>
      </xsd:simpleType>
    </xsd:element>
    <xsd:element name="Reviewed_x0020_Date" ma:index="12" ma:displayName="Reviewed Date" ma:format="DateOnly" ma:internalName="Reviewed_x0020_Date" ma:readOnly="false">
      <xsd:simpleType>
        <xsd:restriction base="dms:DateTime"/>
      </xsd:simpleType>
    </xsd:element>
    <xsd:element name="Next_x0020_Scheduled_x0020_Review_x0020_Date" ma:index="13" ma:displayName="Next Scheduled Review Date" ma:format="DateOnly" ma:internalName="Next_x0020_Scheduled_x0020_Review_x0020_Date" ma:readOnly="false">
      <xsd:simpleType>
        <xsd:restriction base="dms:DateTime"/>
      </xsd:simpleType>
    </xsd:element>
    <xsd:element name="Notes1" ma:index="14" nillable="true" ma:displayName="Notes" ma:internalName="Notes1">
      <xsd:simpleType>
        <xsd:restriction base="dms:Note">
          <xsd:maxLength value="255"/>
        </xsd:restriction>
      </xsd:simpleType>
    </xsd:element>
    <xsd:element name="_dlc_DocId" ma:index="16" nillable="true" ma:displayName="Document ID Value" ma:description="The value of the document ID assigned to this item." ma:internalName="_dlc_DocId" ma:readOnly="true">
      <xsd:simpleType>
        <xsd:restriction base="dms:Text"/>
      </xsd:simpleType>
    </xsd:element>
    <xsd:element name="ofc6ecffa18e4c49a0b3f631c800d01e" ma:index="17" nillable="true" ma:taxonomy="true" ma:internalName="ofc6ecffa18e4c49a0b3f631c800d01e" ma:taxonomyFieldName="Target_x0020_Audience" ma:displayName="Target Audience" ma:readOnly="false" ma:default="" ma:fieldId="{8fc6ecff-a18e-4c49-a0b3-f631c800d01e}" ma:taxonomyMulti="true" ma:sspId="6ce3a7a1-84a7-46f6-b9ea-52be05fcf1b3" ma:termSetId="a86be483-2d11-4286-ad72-7b1ca66988dc" ma:anchorId="00000000-0000-0000-0000-000000000000" ma:open="false" ma:isKeyword="false">
      <xsd:complexType>
        <xsd:sequence>
          <xsd:element ref="pc:Terms" minOccurs="0" maxOccurs="1"/>
        </xsd:sequence>
      </xsd:complexType>
    </xsd:element>
    <xsd:element name="d33d8e452192410897555420ed4061b4" ma:index="19" ma:taxonomy="true" ma:internalName="d33d8e452192410897555420ed4061b4" ma:taxonomyFieldName="Topic" ma:displayName="Topic" ma:readOnly="false" ma:default="" ma:fieldId="{d33d8e45-2192-4108-9755-5420ed4061b4}" ma:taxonomyMulti="true" ma:sspId="6ce3a7a1-84a7-46f6-b9ea-52be05fcf1b3" ma:termSetId="9e5a3ff2-0072-4ca2-8f4f-c92dedc49af2" ma:anchorId="00000000-0000-0000-0000-000000000000" ma:open="false" ma:isKeyword="false">
      <xsd:complexType>
        <xsd:sequence>
          <xsd:element ref="pc:Terms" minOccurs="0" maxOccurs="1"/>
        </xsd:sequence>
      </xsd:complexType>
    </xsd:element>
    <xsd:element name="ne41efdca82d475388752b2c5f2b8261" ma:index="21" nillable="true" ma:taxonomy="true" ma:internalName="ne41efdca82d475388752b2c5f2b8261" ma:taxonomyFieldName="Program" ma:displayName="Program" ma:readOnly="false" ma:default="" ma:fieldId="{7e41efdc-a82d-4753-8875-2b2c5f2b8261}" ma:sspId="6ce3a7a1-84a7-46f6-b9ea-52be05fcf1b3" ma:termSetId="26788ccb-afe5-46e3-9e3f-72afa5b0d3a9" ma:anchorId="00000000-0000-0000-0000-000000000000" ma:open="false" ma:isKeyword="false">
      <xsd:complexType>
        <xsd:sequence>
          <xsd:element ref="pc:Terms" minOccurs="0" maxOccurs="1"/>
        </xsd:sequence>
      </xsd:complexType>
    </xsd:element>
    <xsd:element name="o21d29a7103b4682935c0630413e6f7b" ma:index="23" ma:taxonomy="true" ma:internalName="o21d29a7103b4682935c0630413e6f7b" ma:taxonomyFieldName="Owner_x0020__x002d__x0020_Department" ma:displayName="Owner - Department" ma:readOnly="false" ma:default="" ma:fieldId="{821d29a7-103b-4682-935c-0630413e6f7b}" ma:sspId="6ce3a7a1-84a7-46f6-b9ea-52be05fcf1b3" ma:termSetId="9d12076b-8eb3-404c-93cb-d5439a18ddeb" ma:anchorId="e4022642-7310-4bc7-acea-34492288603e" ma:open="false" ma:isKeyword="false">
      <xsd:complexType>
        <xsd:sequence>
          <xsd:element ref="pc:Terms" minOccurs="0" maxOccurs="1"/>
        </xsd:sequence>
      </xsd:complexType>
    </xsd:element>
    <xsd:element name="lcf2e7135e8e4d83bebbad48a9a2aeb7" ma:index="24" nillable="true" ma:taxonomy="true" ma:internalName="lcf2e7135e8e4d83bebbad48a9a2aeb7" ma:taxonomyFieldName="PublishedDocument_x002e_Location" ma:displayName="Location" ma:readOnly="false" ma:default="" ma:fieldId="{5cf2e713-5e8e-4d83-bebb-ad48a9a2aeb7}" ma:taxonomyMulti="true" ma:sspId="6ce3a7a1-84a7-46f6-b9ea-52be05fcf1b3" ma:termSetId="eca533c3-a35b-4f08-a3c0-c6828e75883d" ma:anchorId="00000000-0000-0000-0000-000000000000" ma:open="false" ma:isKeyword="false">
      <xsd:complexType>
        <xsd:sequence>
          <xsd:element ref="pc:Terms" minOccurs="0" maxOccurs="1"/>
        </xsd:sequence>
      </xsd:complexType>
    </xsd:element>
    <xsd:element name="l9eb48deb3b346a6907c77c095a5e1d4" ma:index="26" nillable="true" ma:taxonomy="true" ma:internalName="l9eb48deb3b346a6907c77c095a5e1d4" ma:taxonomyFieldName="Building" ma:displayName="Building" ma:readOnly="false" ma:default="" ma:fieldId="{59eb48de-b3b3-46a6-907c-77c095a5e1d4}" ma:taxonomyMulti="true" ma:sspId="6ce3a7a1-84a7-46f6-b9ea-52be05fcf1b3" ma:termSetId="b3897f88-c03a-461f-924c-5555116521aa" ma:anchorId="00000000-0000-0000-0000-000000000000" ma:open="false" ma:isKeyword="false">
      <xsd:complexType>
        <xsd:sequence>
          <xsd:element ref="pc:Terms" minOccurs="0" maxOccurs="1"/>
        </xsd:sequence>
      </xsd:complexType>
    </xsd:element>
    <xsd:element name="_dlc_DocIdPersistId" ma:index="28" nillable="true" ma:displayName="Persist ID" ma:description="Keep ID on add." ma:hidden="true" ma:internalName="_dlc_DocIdPersistId" ma:readOnly="true">
      <xsd:simpleType>
        <xsd:restriction base="dms:Boolean"/>
      </xsd:simpleType>
    </xsd:element>
    <xsd:element name="_dlc_DocIdUrl" ma:index="3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LastSharedByUser" ma:index="33" nillable="true" ma:displayName="Last Shared By User" ma:description="" ma:internalName="LastSharedByUser" ma:readOnly="true">
      <xsd:simpleType>
        <xsd:restriction base="dms:Note">
          <xsd:maxLength value="255"/>
        </xsd:restriction>
      </xsd:simpleType>
    </xsd:element>
    <xsd:element name="LastSharedByTime" ma:index="34"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2bb52fc-fb4a-47ec-96af-1ca16eda3341" elementFormDefault="qualified">
    <xsd:import namespace="http://schemas.microsoft.com/office/2006/documentManagement/types"/>
    <xsd:import namespace="http://schemas.microsoft.com/office/infopath/2007/PartnerControls"/>
    <xsd:element name="TaxCatchAllLabel" ma:index="15" nillable="true" ma:displayName="Taxonomy Catch All Column1" ma:description="" ma:hidden="true" ma:list="{471816bf-0f64-41b8-9201-7477eeda1efa}" ma:internalName="TaxCatchAllLabel" ma:readOnly="true" ma:showField="CatchAllDataLabel" ma:web="a1931c98-6bbb-40b1-967f-8cf7447a3553">
      <xsd:complexType>
        <xsd:complexContent>
          <xsd:extension base="dms:MultiChoiceLookup">
            <xsd:sequence>
              <xsd:element name="Value" type="dms:Lookup" maxOccurs="unbounded" minOccurs="0" nillable="true"/>
            </xsd:sequence>
          </xsd:extension>
        </xsd:complexContent>
      </xsd:complexType>
    </xsd:element>
    <xsd:element name="TaxCatchAll" ma:index="31" nillable="true" ma:displayName="Taxonomy Catch All Column" ma:description="" ma:hidden="true" ma:list="{471816bf-0f64-41b8-9201-7477eeda1efa}" ma:internalName="TaxCatchAll" ma:showField="CatchAllData" ma:web="a1931c98-6bbb-40b1-967f-8cf7447a355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2b3bded-9174-49ad-922b-f495aa64e0c3" elementFormDefault="qualified">
    <xsd:import namespace="http://schemas.microsoft.com/office/2006/documentManagement/types"/>
    <xsd:import namespace="http://schemas.microsoft.com/office/infopath/2007/PartnerControls"/>
    <xsd:element name="Public" ma:index="32" nillable="true" ma:displayName="Public" ma:default="1" ma:format="Dropdown" ma:indexed="true" ma:internalName="Public">
      <xsd:simpleType>
        <xsd:restriction base="dms:Boolean"/>
      </xsd:simpleType>
    </xsd:element>
    <xsd:element name="MediaServiceMetadata" ma:index="35" nillable="true" ma:displayName="MediaServiceMetadata" ma:description="" ma:hidden="true" ma:internalName="MediaServiceMetadata" ma:readOnly="true">
      <xsd:simpleType>
        <xsd:restriction base="dms:Note"/>
      </xsd:simpleType>
    </xsd:element>
    <xsd:element name="MediaServiceFastMetadata" ma:index="36" nillable="true" ma:displayName="MediaServiceFastMetadata" ma:description="" ma:hidden="true" ma:internalName="MediaServiceFastMetadata" ma:readOnly="true">
      <xsd:simpleType>
        <xsd:restriction base="dms:Note"/>
      </xsd:simpleType>
    </xsd:element>
    <xsd:element name="MediaServiceAutoTags" ma:index="37" nillable="true" ma:displayName="MediaServiceAutoTags" ma:description="" ma:internalName="MediaServiceAutoTags" ma:readOnly="true">
      <xsd:simpleType>
        <xsd:restriction base="dms:Text"/>
      </xsd:simpleType>
    </xsd:element>
    <xsd:element name="MediaServiceDateTaken" ma:index="38" nillable="true" ma:displayName="MediaServiceDateTaken" ma:description="" ma:hidden="true" ma:internalName="MediaServiceDateTaken" ma:readOnly="true">
      <xsd:simpleType>
        <xsd:restriction base="dms:Text"/>
      </xsd:simpleType>
    </xsd:element>
    <xsd:element name="nphl" ma:index="39" nillable="true" ma:displayName="Text" ma:internalName="nphl">
      <xsd:simpleType>
        <xsd:restriction base="dms:Text"/>
      </xsd:simpleType>
    </xsd:element>
    <xsd:element name="o6up" ma:index="40" nillable="true" ma:displayName="Text" ma:internalName="o6up">
      <xsd:simpleType>
        <xsd:restriction base="dms:Text"/>
      </xsd:simpleType>
    </xsd:element>
    <xsd:element name="MediaServiceOCR" ma:index="41" nillable="true" ma:displayName="Extracted Text" ma:internalName="MediaServiceOCR" ma:readOnly="true">
      <xsd:simpleType>
        <xsd:restriction base="dms:Note">
          <xsd:maxLength value="255"/>
        </xsd:restriction>
      </xsd:simpleType>
    </xsd:element>
    <xsd:element name="MediaServiceLocation" ma:index="42" nillable="true" ma:displayName="Location" ma:internalName="MediaServiceLocation" ma:readOnly="true">
      <xsd:simpleType>
        <xsd:restriction base="dms:Text"/>
      </xsd:simpleType>
    </xsd:element>
    <xsd:element name="MediaServiceGenerationTime" ma:index="43" nillable="true" ma:displayName="MediaServiceGenerationTime" ma:hidden="true" ma:internalName="MediaServiceGenerationTime" ma:readOnly="true">
      <xsd:simpleType>
        <xsd:restriction base="dms:Text"/>
      </xsd:simpleType>
    </xsd:element>
    <xsd:element name="MediaServiceEventHashCode" ma:index="44" nillable="true" ma:displayName="MediaServiceEventHashCode" ma:hidden="true" ma:internalName="MediaServiceEventHashCode" ma:readOnly="true">
      <xsd:simpleType>
        <xsd:restriction base="dms:Text"/>
      </xsd:simpleType>
    </xsd:element>
    <xsd:element name="MediaServiceAutoKeyPoints" ma:index="45" nillable="true" ma:displayName="MediaServiceAutoKeyPoints" ma:hidden="true" ma:internalName="MediaServiceAutoKeyPoints" ma:readOnly="true">
      <xsd:simpleType>
        <xsd:restriction base="dms:Note"/>
      </xsd:simpleType>
    </xsd:element>
    <xsd:element name="MediaServiceKeyPoints" ma:index="4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8" ma:displayName="Author"/>
        <xsd:element ref="dcterms:created" minOccurs="0" maxOccurs="1"/>
        <xsd:element ref="dc:identifier" minOccurs="0" maxOccurs="1"/>
        <xsd:element name="contentType" minOccurs="0" maxOccurs="1" type="xsd:string" ma:index="29" ma:displayName="Content Type"/>
        <xsd:element ref="dc:title"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56E63F-A8C0-4586-AFCD-69964B5AAAEB}">
  <ds:schemaRefs>
    <ds:schemaRef ds:uri="http://purl.org/dc/elements/1.1/"/>
    <ds:schemaRef ds:uri="52bb52fc-fb4a-47ec-96af-1ca16eda3341"/>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82b3bded-9174-49ad-922b-f495aa64e0c3"/>
    <ds:schemaRef ds:uri="a1931c98-6bbb-40b1-967f-8cf7447a3553"/>
    <ds:schemaRef ds:uri="http://schemas.microsoft.com/sharepoint/v3"/>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177E4845-7472-4B0C-A0C7-BE9A32CE6DC0}">
  <ds:schemaRefs>
    <ds:schemaRef ds:uri="http://schemas.microsoft.com/sharepoint/v3/contenttype/forms"/>
  </ds:schemaRefs>
</ds:datastoreItem>
</file>

<file path=customXml/itemProps3.xml><?xml version="1.0" encoding="utf-8"?>
<ds:datastoreItem xmlns:ds="http://schemas.openxmlformats.org/officeDocument/2006/customXml" ds:itemID="{68666264-2430-4543-BB4A-DBA285AA728A}">
  <ds:schemaRefs>
    <ds:schemaRef ds:uri="http://schemas.microsoft.com/sharepoint/events"/>
  </ds:schemaRefs>
</ds:datastoreItem>
</file>

<file path=customXml/itemProps4.xml><?xml version="1.0" encoding="utf-8"?>
<ds:datastoreItem xmlns:ds="http://schemas.openxmlformats.org/officeDocument/2006/customXml" ds:itemID="{435A2319-86B4-4D22-928A-C0D2B37BDC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1931c98-6bbb-40b1-967f-8cf7447a3553"/>
    <ds:schemaRef ds:uri="52bb52fc-fb4a-47ec-96af-1ca16eda3341"/>
    <ds:schemaRef ds:uri="82b3bded-9174-49ad-922b-f495aa64e0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Digital_Design-PPT_TEMPLATE_2025</Template>
  <TotalTime>0</TotalTime>
  <Words>833</Words>
  <Application>Microsoft Office PowerPoint</Application>
  <PresentationFormat>Custom</PresentationFormat>
  <Paragraphs>129</Paragraphs>
  <Slides>23</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Calibri</vt:lpstr>
      <vt:lpstr>Office Theme</vt:lpstr>
      <vt:lpstr>DDSN1001</vt:lpstr>
      <vt:lpstr>Instructor Introduction</vt:lpstr>
      <vt:lpstr>About DDSN1001</vt:lpstr>
      <vt:lpstr>Course Structure</vt:lpstr>
      <vt:lpstr>Today’s Goals</vt:lpstr>
      <vt:lpstr>Introductions (30-40 Minutes)</vt:lpstr>
      <vt:lpstr>What do you think is the #2 fear among ordinary people in the developed world?  Hint: Death is #1</vt:lpstr>
      <vt:lpstr>PowerPoint Presentation</vt:lpstr>
      <vt:lpstr>Public Speaking</vt:lpstr>
      <vt:lpstr>Communication Skills</vt:lpstr>
      <vt:lpstr>Presentation Skills</vt:lpstr>
      <vt:lpstr>Working With Others</vt:lpstr>
      <vt:lpstr>Inclusivity</vt:lpstr>
      <vt:lpstr>Interpersonal Interaction</vt:lpstr>
      <vt:lpstr>Beliefs</vt:lpstr>
      <vt:lpstr>Interpersonal Relationships</vt:lpstr>
      <vt:lpstr>Preferences/Style</vt:lpstr>
      <vt:lpstr>Tone</vt:lpstr>
      <vt:lpstr>Teaching &amp; Tone</vt:lpstr>
      <vt:lpstr>Why So Many Questions?</vt:lpstr>
      <vt:lpstr>Teacher/Student Interactions</vt:lpstr>
      <vt:lpstr>What’s Coming Up</vt:lpstr>
      <vt:lpstr>RECAP:  Can you recall any of the points that we discussed today? Any 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Dorian Bibbey</dc:creator>
  <cp:lastModifiedBy>Dorian Bibbey</cp:lastModifiedBy>
  <cp:revision>3</cp:revision>
  <cp:lastPrinted>2019-08-01T00:13:24Z</cp:lastPrinted>
  <dcterms:created xsi:type="dcterms:W3CDTF">2025-01-22T14:53:54Z</dcterms:created>
  <dcterms:modified xsi:type="dcterms:W3CDTF">2025-01-22T15:35:13Z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
  </property>
  <property fmtid="{D5CDD505-2E9C-101B-9397-08002B2CF9AE}" pid="4" name="Building">
    <vt:lpwstr/>
  </property>
  <property fmtid="{D5CDD505-2E9C-101B-9397-08002B2CF9AE}" pid="5" name="ContentTypeId">
    <vt:lpwstr>0x010100C1BA51318E401F48B5D2093CBA079C8800EE7A27C51231A241A789809547D65198</vt:lpwstr>
  </property>
  <property fmtid="{D5CDD505-2E9C-101B-9397-08002B2CF9AE}" pid="6" name="Target Audience">
    <vt:lpwstr/>
  </property>
  <property fmtid="{D5CDD505-2E9C-101B-9397-08002B2CF9AE}" pid="7" name="_dlc_DocIdItemGuid">
    <vt:lpwstr>a4d56298-c866-45f0-a3db-be918181ebef</vt:lpwstr>
  </property>
  <property fmtid="{D5CDD505-2E9C-101B-9397-08002B2CF9AE}" pid="8" name="PublishedDocument.Location">
    <vt:lpwstr/>
  </property>
  <property fmtid="{D5CDD505-2E9C-101B-9397-08002B2CF9AE}" pid="9" name="Program">
    <vt:lpwstr/>
  </property>
</Properties>
</file>